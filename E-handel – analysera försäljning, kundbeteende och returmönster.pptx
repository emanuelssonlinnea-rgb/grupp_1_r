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92000"/>
  <p:notesSz cx="6858000" cy="9144000"/>
  <p:embeddedFontLst>
    <p:embeddedFont>
      <p:font typeface="Proxima Nova"/>
      <p:regular r:id="rId15"/>
      <p:bold r:id="rId16"/>
      <p:italic r:id="rId17"/>
      <p:boldItalic r:id="rId18"/>
    </p:embeddedFont>
    <p:embeddedFont>
      <p:font typeface="Roboto"/>
      <p:regular r:id="rId19"/>
      <p:bold r:id="rId20"/>
      <p:italic r:id="rId21"/>
      <p:boldItalic r:id="rId22"/>
    </p:embeddedFont>
    <p:embeddedFont>
      <p:font typeface="Alfa Slab One"/>
      <p:regular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jTZxYfESPVUf/U18V9I+IdrUn9G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11" Type="http://schemas.openxmlformats.org/officeDocument/2006/relationships/slide" Target="slides/slide7.xml"/><Relationship Id="rId22" Type="http://schemas.openxmlformats.org/officeDocument/2006/relationships/font" Target="fonts/Roboto-boldItalic.fntdata"/><Relationship Id="rId10" Type="http://schemas.openxmlformats.org/officeDocument/2006/relationships/slide" Target="slides/slide6.xml"/><Relationship Id="rId21" Type="http://schemas.openxmlformats.org/officeDocument/2006/relationships/font" Target="fonts/Roboto-italic.fntdata"/><Relationship Id="rId13" Type="http://schemas.openxmlformats.org/officeDocument/2006/relationships/slide" Target="slides/slide9.xml"/><Relationship Id="rId24" Type="http://customschemas.google.com/relationships/presentationmetadata" Target="metadata"/><Relationship Id="rId12" Type="http://schemas.openxmlformats.org/officeDocument/2006/relationships/slide" Target="slides/slide8.xml"/><Relationship Id="rId23" Type="http://schemas.openxmlformats.org/officeDocument/2006/relationships/font" Target="fonts/AlfaSlabOne-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ProximaNova-regular.fntdata"/><Relationship Id="rId14" Type="http://schemas.openxmlformats.org/officeDocument/2006/relationships/slide" Target="slides/slide10.xml"/><Relationship Id="rId17" Type="http://schemas.openxmlformats.org/officeDocument/2006/relationships/font" Target="fonts/ProximaNova-italic.fntdata"/><Relationship Id="rId16" Type="http://schemas.openxmlformats.org/officeDocument/2006/relationships/font" Target="fonts/ProximaNova-bold.fntdata"/><Relationship Id="rId5" Type="http://schemas.openxmlformats.org/officeDocument/2006/relationships/slide" Target="slides/slide1.xml"/><Relationship Id="rId19" Type="http://schemas.openxmlformats.org/officeDocument/2006/relationships/font" Target="fonts/Roboto-regular.fntdata"/><Relationship Id="rId6" Type="http://schemas.openxmlformats.org/officeDocument/2006/relationships/slide" Target="slides/slide2.xml"/><Relationship Id="rId18" Type="http://schemas.openxmlformats.org/officeDocument/2006/relationships/font" Target="fonts/ProximaNova-bold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 name="Google Shape;6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GB"/>
              <a:t>Vi arbetar som ett analysteam på ett e-handelsföretag som säljer produkter inom flera kategorier till kunder i olika regioner. Företaget samlar in data om bland annat - ordrar, kunder, rabatter, leveranstider, etc. </a:t>
            </a:r>
            <a:endParaRPr/>
          </a:p>
          <a:p>
            <a:pPr indent="0" lvl="0" marL="0" rtl="0" algn="l">
              <a:spcBef>
                <a:spcPts val="0"/>
              </a:spcBef>
              <a:spcAft>
                <a:spcPts val="0"/>
              </a:spcAft>
              <a:buNone/>
            </a:pPr>
            <a:r>
              <a:rPr lang="en-GB"/>
              <a:t>Företaget vill använda data för att förstå sin verksamhet bättre.</a:t>
            </a:r>
            <a:endParaRPr/>
          </a:p>
          <a:p>
            <a:pPr indent="0" lvl="0" marL="0" rtl="0" algn="l">
              <a:spcBef>
                <a:spcPts val="0"/>
              </a:spcBef>
              <a:spcAft>
                <a:spcPts val="0"/>
              </a:spcAft>
              <a:buNone/>
            </a:pPr>
            <a:r>
              <a:rPr lang="en-GB"/>
              <a:t>Syfte med analysen:</a:t>
            </a:r>
            <a:endParaRPr/>
          </a:p>
          <a:p>
            <a:pPr indent="0" lvl="0" marL="0" rtl="0" algn="l">
              <a:spcBef>
                <a:spcPts val="0"/>
              </a:spcBef>
              <a:spcAft>
                <a:spcPts val="0"/>
              </a:spcAft>
              <a:buNone/>
            </a:pPr>
            <a:r>
              <a:rPr lang="en-GB"/>
              <a:t>Identifiera vilka produktkategorier som driver försäljning</a:t>
            </a:r>
            <a:endParaRPr/>
          </a:p>
          <a:p>
            <a:pPr indent="0" lvl="0" marL="0" rtl="0" algn="l">
              <a:spcBef>
                <a:spcPts val="0"/>
              </a:spcBef>
              <a:spcAft>
                <a:spcPts val="0"/>
              </a:spcAft>
              <a:buNone/>
            </a:pPr>
            <a:r>
              <a:rPr lang="en-GB"/>
              <a:t>Undersöka samband mellan leveranstid och returer</a:t>
            </a:r>
            <a:endParaRPr/>
          </a:p>
          <a:p>
            <a:pPr indent="0" lvl="0" marL="0" rtl="0" algn="l">
              <a:spcBef>
                <a:spcPts val="0"/>
              </a:spcBef>
              <a:spcAft>
                <a:spcPts val="0"/>
              </a:spcAft>
              <a:buNone/>
            </a:pPr>
            <a:r>
              <a:rPr lang="en-GB"/>
              <a:t>Analysera skillnader mellan kundsegment och kundtyper</a:t>
            </a:r>
            <a:endParaRPr/>
          </a:p>
          <a:p>
            <a:pPr indent="0" lvl="0" marL="0" rtl="0" algn="l">
              <a:spcBef>
                <a:spcPts val="0"/>
              </a:spcBef>
              <a:spcAft>
                <a:spcPts val="0"/>
              </a:spcAft>
              <a:buNone/>
            </a:pPr>
            <a:r>
              <a:rPr lang="en-GB"/>
              <a:t>Utvärdera om rabatter påverkar ordervärde</a:t>
            </a:r>
            <a:endParaRPr/>
          </a:p>
          <a:p>
            <a:pPr indent="0" lvl="0" marL="0" rtl="0" algn="l">
              <a:spcBef>
                <a:spcPts val="0"/>
              </a:spcBef>
              <a:spcAft>
                <a:spcPts val="0"/>
              </a:spcAft>
              <a:buNone/>
            </a:pPr>
            <a:r>
              <a:rPr lang="en-GB"/>
              <a:t>Målet är att ta fram insikter som kan stödja affärsbeslut, alltså göra en tydlig och relevant dataanalys i R och presentera insikter på ett sätt som går att förstå och använda.</a:t>
            </a:r>
            <a:endParaRPr/>
          </a:p>
          <a:p>
            <a:pPr indent="0" lvl="0" marL="0" rtl="0" algn="l">
              <a:spcBef>
                <a:spcPts val="0"/>
              </a:spcBef>
              <a:spcAft>
                <a:spcPts val="0"/>
              </a:spcAft>
              <a:buNone/>
            </a:pPr>
            <a:r>
              <a:t/>
            </a:r>
            <a:endParaRPr/>
          </a:p>
        </p:txBody>
      </p:sp>
      <p:sp>
        <p:nvSpPr>
          <p:cNvPr id="71" name="Google Shape;7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GB" sz="1100">
                <a:latin typeface="Calibri"/>
                <a:ea typeface="Calibri"/>
                <a:cs typeface="Calibri"/>
                <a:sym typeface="Calibri"/>
              </a:rPr>
              <a:t>Datasetet består av 1000 observationer och 16 variabler varav 11 är katergoriska och 5 är numeriska.</a:t>
            </a:r>
            <a:endParaRPr sz="1100">
              <a:latin typeface="Calibri"/>
              <a:ea typeface="Calibri"/>
              <a:cs typeface="Calibri"/>
              <a:sym typeface="Calibri"/>
            </a:endParaRPr>
          </a:p>
          <a:p>
            <a:pPr indent="0" lvl="0" marL="0" rtl="0" algn="l">
              <a:lnSpc>
                <a:spcPct val="115000"/>
              </a:lnSpc>
              <a:spcBef>
                <a:spcPts val="0"/>
              </a:spcBef>
              <a:spcAft>
                <a:spcPts val="0"/>
              </a:spcAft>
              <a:buNone/>
            </a:pPr>
            <a:r>
              <a:rPr lang="en-GB" sz="1100">
                <a:latin typeface="Calibri"/>
                <a:ea typeface="Calibri"/>
                <a:cs typeface="Calibri"/>
                <a:sym typeface="Calibri"/>
              </a:rPr>
              <a:t>Det är en låg andel saknade värden spritt mellan 5 olika kolumner, totalt är det 12,6% av observationerna som inkluderar ett saknat värde. Med tanke på att vi bara har 1000 observationer så är det bättre att hantera saknade värden genom imputeringar, katergori skapande än att ta bort raderna vilket Ummulbanin kommer att gå igenom snart.</a:t>
            </a:r>
            <a:endParaRPr sz="1100">
              <a:latin typeface="Calibri"/>
              <a:ea typeface="Calibri"/>
              <a:cs typeface="Calibri"/>
              <a:sym typeface="Calibri"/>
            </a:endParaRPr>
          </a:p>
          <a:p>
            <a:pPr indent="0" lvl="0" marL="0" rtl="0" algn="l">
              <a:lnSpc>
                <a:spcPct val="115000"/>
              </a:lnSpc>
              <a:spcBef>
                <a:spcPts val="0"/>
              </a:spcBef>
              <a:spcAft>
                <a:spcPts val="0"/>
              </a:spcAft>
              <a:buNone/>
            </a:pPr>
            <a:r>
              <a:rPr lang="en-GB" sz="1100">
                <a:latin typeface="Calibri"/>
                <a:ea typeface="Calibri"/>
                <a:cs typeface="Calibri"/>
                <a:sym typeface="Calibri"/>
              </a:rPr>
              <a:t>I forskningssyfte kollade jag lite på hur datan låg till -&gt; några av dem mer intressant handlade då om returer och kundsegment -&gt;  när man tittar mellan olika kundsegment så ligger alla tre på liknande andel returer mellan 14.2-15.5% med corporate med högst andel returer. Det är först när man tittar på betalningsmetod som siffrorna varierar lite mer invoice och saknad betalningsmetod har dem högsta andelarna returer - det skulle behövas en djupare studie för att förstå vad dem saknade betalningsmetoderna innebär. </a:t>
            </a:r>
            <a:endParaRPr sz="1100">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GB" sz="1100">
                <a:latin typeface="Calibri"/>
                <a:ea typeface="Calibri"/>
                <a:cs typeface="Calibri"/>
                <a:sym typeface="Calibri"/>
              </a:rPr>
              <a:t>2 frågeställningar från listan:</a:t>
            </a:r>
            <a:endParaRPr sz="1100">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GB" sz="1100">
                <a:latin typeface="Calibri"/>
                <a:ea typeface="Calibri"/>
                <a:cs typeface="Calibri"/>
                <a:sym typeface="Calibri"/>
              </a:rPr>
              <a:t>Vilka produktkategorier verkar driva högst försäljning?</a:t>
            </a:r>
            <a:endParaRPr sz="1100">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GB" sz="1100">
                <a:latin typeface="Calibri"/>
                <a:ea typeface="Calibri"/>
                <a:cs typeface="Calibri"/>
                <a:sym typeface="Calibri"/>
              </a:rPr>
              <a:t>Finns det tecken på att längre leveranstid hänger ihop med fler returer?</a:t>
            </a:r>
            <a:endParaRPr sz="1100">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GB" sz="1100">
                <a:latin typeface="Calibri"/>
                <a:ea typeface="Calibri"/>
                <a:cs typeface="Calibri"/>
                <a:sym typeface="Calibri"/>
              </a:rPr>
              <a:t>Egen frågeställning:</a:t>
            </a:r>
            <a:endParaRPr sz="1100">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GB" sz="1100">
                <a:latin typeface="Calibri"/>
                <a:ea typeface="Calibri"/>
                <a:cs typeface="Calibri"/>
                <a:sym typeface="Calibri"/>
              </a:rPr>
              <a:t>Hur skiljer sig kundtyper bland olika kundsegment?</a:t>
            </a:r>
            <a:endParaRPr sz="1100">
              <a:latin typeface="Calibri"/>
              <a:ea typeface="Calibri"/>
              <a:cs typeface="Calibri"/>
              <a:sym typeface="Calibri"/>
            </a:endParaRPr>
          </a:p>
          <a:p>
            <a:pPr indent="0" lvl="0" marL="0" rtl="0" algn="l">
              <a:spcBef>
                <a:spcPts val="0"/>
              </a:spcBef>
              <a:spcAft>
                <a:spcPts val="0"/>
              </a:spcAft>
              <a:buNone/>
            </a:pPr>
            <a:r>
              <a:t/>
            </a:r>
            <a:endParaRPr/>
          </a:p>
        </p:txBody>
      </p:sp>
      <p:sp>
        <p:nvSpPr>
          <p:cNvPr id="79" name="Google Shape;7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d697e89592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1" name="Google Shape;91;g3d697e89592_0_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g3d697e89592_0_2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d697e89592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8" name="Google Shape;98;g3d697e89592_0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g3d697e89592_0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GB" sz="1100"/>
              <a:t>Katarina manus: </a:t>
            </a:r>
            <a:endParaRPr sz="1100"/>
          </a:p>
          <a:p>
            <a:pPr indent="0" lvl="0" marL="0" rtl="0" algn="l">
              <a:lnSpc>
                <a:spcPct val="115000"/>
              </a:lnSpc>
              <a:spcBef>
                <a:spcPts val="1200"/>
              </a:spcBef>
              <a:spcAft>
                <a:spcPts val="0"/>
              </a:spcAft>
              <a:buClr>
                <a:schemeClr val="dk1"/>
              </a:buClr>
              <a:buSzPts val="1100"/>
              <a:buFont typeface="Arial"/>
              <a:buNone/>
            </a:pPr>
            <a:r>
              <a:rPr lang="en-GB" sz="1100"/>
              <a:t>I vår analys har vi identifierat några tydliga mönster i datan.</a:t>
            </a:r>
            <a:br>
              <a:rPr lang="en-GB" sz="1100"/>
            </a:br>
            <a:r>
              <a:rPr lang="en-GB" sz="1100"/>
              <a:t>För det första ser vi att produktkategorin </a:t>
            </a:r>
            <a:r>
              <a:rPr i="1" lang="en-GB" sz="1100"/>
              <a:t>Electronics</a:t>
            </a:r>
            <a:r>
              <a:rPr lang="en-GB" sz="1100"/>
              <a:t> står för den största delen av försäljningen, vilket innebär att företaget är starkt beroende av denna kategori för sina intäkter.</a:t>
            </a:r>
            <a:endParaRPr sz="1100"/>
          </a:p>
          <a:p>
            <a:pPr indent="0" lvl="0" marL="0" rtl="0" algn="l">
              <a:lnSpc>
                <a:spcPct val="115000"/>
              </a:lnSpc>
              <a:spcBef>
                <a:spcPts val="1200"/>
              </a:spcBef>
              <a:spcAft>
                <a:spcPts val="0"/>
              </a:spcAft>
              <a:buClr>
                <a:schemeClr val="dk1"/>
              </a:buClr>
              <a:buSzPts val="1100"/>
              <a:buFont typeface="Arial"/>
              <a:buNone/>
            </a:pPr>
            <a:r>
              <a:rPr lang="en-GB" sz="1100"/>
              <a:t>När vi tittar på leveranstid och returer ser vi att beställningar som returneras i genomsnitt har något längre leveranstid. Skillnaden är inte jättestor, men den är statistiskt signifikant, vilket tyder på att leveranstid kan påverka kundnöjdhet och returer.</a:t>
            </a:r>
            <a:endParaRPr sz="1100"/>
          </a:p>
          <a:p>
            <a:pPr indent="0" lvl="0" marL="0" rtl="0" algn="l">
              <a:lnSpc>
                <a:spcPct val="115000"/>
              </a:lnSpc>
              <a:spcBef>
                <a:spcPts val="1200"/>
              </a:spcBef>
              <a:spcAft>
                <a:spcPts val="0"/>
              </a:spcAft>
              <a:buClr>
                <a:schemeClr val="dk1"/>
              </a:buClr>
              <a:buSzPts val="1100"/>
              <a:buFont typeface="Arial"/>
              <a:buNone/>
            </a:pPr>
            <a:r>
              <a:rPr lang="en-GB" sz="1100"/>
              <a:t>Vidare ser vi att återkommande kunder dominerar i alla kundsegment, vilket är positivt ur ett affärsperspektiv eftersom det tyder på kundlojalitet. Samtidigt varierar andelen VIP-kunder mellan segmenten, där Consumer-segmentet har en större andel.</a:t>
            </a:r>
            <a:endParaRPr sz="1100"/>
          </a:p>
          <a:p>
            <a:pPr indent="0" lvl="0" marL="0" rtl="0" algn="l">
              <a:lnSpc>
                <a:spcPct val="115000"/>
              </a:lnSpc>
              <a:spcBef>
                <a:spcPts val="1200"/>
              </a:spcBef>
              <a:spcAft>
                <a:spcPts val="0"/>
              </a:spcAft>
              <a:buClr>
                <a:schemeClr val="dk1"/>
              </a:buClr>
              <a:buSzPts val="1100"/>
              <a:buFont typeface="Arial"/>
              <a:buNone/>
            </a:pPr>
            <a:r>
              <a:rPr lang="en-GB" sz="1100"/>
              <a:t>Slutligen visar analysen av rabatter att de inte verkar ha någon tydlig påverkan på det typiska ordervärdet, vilket kan innebära att andra faktorer spelar större roll för hur mycket kunder handlar för.</a:t>
            </a:r>
            <a:endParaRPr sz="1100"/>
          </a:p>
          <a:p>
            <a:pPr indent="0" lvl="0" marL="0" rtl="0" algn="l">
              <a:spcBef>
                <a:spcPts val="1200"/>
              </a:spcBef>
              <a:spcAft>
                <a:spcPts val="0"/>
              </a:spcAft>
              <a:buNone/>
            </a:pPr>
            <a:r>
              <a:t/>
            </a:r>
            <a:endParaRPr/>
          </a:p>
        </p:txBody>
      </p:sp>
      <p:sp>
        <p:nvSpPr>
          <p:cNvPr id="112" name="Google Shape;11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d7f9d0349a_0_6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d7f9d0349a_0_6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g3d7f9d0349a_0_6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cxnSp>
        <p:nvCxnSpPr>
          <p:cNvPr id="14" name="Google Shape;14;g3d7f9d0349a_0_570"/>
          <p:cNvCxnSpPr/>
          <p:nvPr/>
        </p:nvCxnSpPr>
        <p:spPr>
          <a:xfrm>
            <a:off x="5704400" y="3668217"/>
            <a:ext cx="783300" cy="0"/>
          </a:xfrm>
          <a:prstGeom prst="straightConnector1">
            <a:avLst/>
          </a:prstGeom>
          <a:noFill/>
          <a:ln cap="flat" cmpd="sng" w="101600">
            <a:solidFill>
              <a:schemeClr val="dk1"/>
            </a:solidFill>
            <a:prstDash val="solid"/>
            <a:round/>
            <a:headEnd len="sm" w="sm" type="none"/>
            <a:tailEnd len="sm" w="sm" type="none"/>
          </a:ln>
        </p:spPr>
      </p:cxnSp>
      <p:sp>
        <p:nvSpPr>
          <p:cNvPr id="15" name="Google Shape;15;g3d7f9d0349a_0_570"/>
          <p:cNvSpPr txBox="1"/>
          <p:nvPr>
            <p:ph type="ctrTitle"/>
          </p:nvPr>
        </p:nvSpPr>
        <p:spPr>
          <a:xfrm>
            <a:off x="415600" y="794633"/>
            <a:ext cx="11360700" cy="26103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16" name="Google Shape;16;g3d7f9d0349a_0_570"/>
          <p:cNvSpPr txBox="1"/>
          <p:nvPr>
            <p:ph idx="1" type="subTitle"/>
          </p:nvPr>
        </p:nvSpPr>
        <p:spPr>
          <a:xfrm>
            <a:off x="415600" y="4221097"/>
            <a:ext cx="11360700" cy="9780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3200"/>
              <a:buNone/>
              <a:defRPr sz="3200"/>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p:txBody>
      </p:sp>
      <p:sp>
        <p:nvSpPr>
          <p:cNvPr id="17" name="Google Shape;17;g3d7f9d0349a_0_57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8" name="Shape 18"/>
        <p:cNvGrpSpPr/>
        <p:nvPr/>
      </p:nvGrpSpPr>
      <p:grpSpPr>
        <a:xfrm>
          <a:off x="0" y="0"/>
          <a:ext cx="0" cy="0"/>
          <a:chOff x="0" y="0"/>
          <a:chExt cx="0" cy="0"/>
        </a:xfrm>
      </p:grpSpPr>
      <p:sp>
        <p:nvSpPr>
          <p:cNvPr id="19" name="Google Shape;19;g3d7f9d0349a_0_575"/>
          <p:cNvSpPr txBox="1"/>
          <p:nvPr>
            <p:ph type="title"/>
          </p:nvPr>
        </p:nvSpPr>
        <p:spPr>
          <a:xfrm>
            <a:off x="415600" y="3307400"/>
            <a:ext cx="10819200" cy="3261300"/>
          </a:xfrm>
          <a:prstGeom prst="rect">
            <a:avLst/>
          </a:prstGeom>
        </p:spPr>
        <p:txBody>
          <a:bodyPr anchorCtr="0" anchor="b" bIns="121900" lIns="121900" spcFirstLastPara="1" rIns="121900" wrap="square" tIns="121900">
            <a:normAutofit/>
          </a:bodyPr>
          <a:lstStyle>
            <a:lvl1pPr lvl="0">
              <a:spcBef>
                <a:spcPts val="0"/>
              </a:spcBef>
              <a:spcAft>
                <a:spcPts val="0"/>
              </a:spcAft>
              <a:buClr>
                <a:schemeClr val="lt1"/>
              </a:buClr>
              <a:buSzPts val="9100"/>
              <a:buNone/>
              <a:defRPr sz="9100">
                <a:solidFill>
                  <a:schemeClr val="lt1"/>
                </a:solidFill>
              </a:defRPr>
            </a:lvl1pPr>
            <a:lvl2pPr lvl="1">
              <a:spcBef>
                <a:spcPts val="0"/>
              </a:spcBef>
              <a:spcAft>
                <a:spcPts val="0"/>
              </a:spcAft>
              <a:buClr>
                <a:schemeClr val="lt1"/>
              </a:buClr>
              <a:buSzPts val="9100"/>
              <a:buNone/>
              <a:defRPr sz="9100">
                <a:solidFill>
                  <a:schemeClr val="lt1"/>
                </a:solidFill>
              </a:defRPr>
            </a:lvl2pPr>
            <a:lvl3pPr lvl="2">
              <a:spcBef>
                <a:spcPts val="0"/>
              </a:spcBef>
              <a:spcAft>
                <a:spcPts val="0"/>
              </a:spcAft>
              <a:buClr>
                <a:schemeClr val="lt1"/>
              </a:buClr>
              <a:buSzPts val="9100"/>
              <a:buNone/>
              <a:defRPr sz="9100">
                <a:solidFill>
                  <a:schemeClr val="lt1"/>
                </a:solidFill>
              </a:defRPr>
            </a:lvl3pPr>
            <a:lvl4pPr lvl="3">
              <a:spcBef>
                <a:spcPts val="0"/>
              </a:spcBef>
              <a:spcAft>
                <a:spcPts val="0"/>
              </a:spcAft>
              <a:buClr>
                <a:schemeClr val="lt1"/>
              </a:buClr>
              <a:buSzPts val="9100"/>
              <a:buNone/>
              <a:defRPr sz="9100">
                <a:solidFill>
                  <a:schemeClr val="lt1"/>
                </a:solidFill>
              </a:defRPr>
            </a:lvl4pPr>
            <a:lvl5pPr lvl="4">
              <a:spcBef>
                <a:spcPts val="0"/>
              </a:spcBef>
              <a:spcAft>
                <a:spcPts val="0"/>
              </a:spcAft>
              <a:buClr>
                <a:schemeClr val="lt1"/>
              </a:buClr>
              <a:buSzPts val="9100"/>
              <a:buNone/>
              <a:defRPr sz="9100">
                <a:solidFill>
                  <a:schemeClr val="lt1"/>
                </a:solidFill>
              </a:defRPr>
            </a:lvl5pPr>
            <a:lvl6pPr lvl="5">
              <a:spcBef>
                <a:spcPts val="0"/>
              </a:spcBef>
              <a:spcAft>
                <a:spcPts val="0"/>
              </a:spcAft>
              <a:buClr>
                <a:schemeClr val="lt1"/>
              </a:buClr>
              <a:buSzPts val="9100"/>
              <a:buNone/>
              <a:defRPr sz="9100">
                <a:solidFill>
                  <a:schemeClr val="lt1"/>
                </a:solidFill>
              </a:defRPr>
            </a:lvl6pPr>
            <a:lvl7pPr lvl="6">
              <a:spcBef>
                <a:spcPts val="0"/>
              </a:spcBef>
              <a:spcAft>
                <a:spcPts val="0"/>
              </a:spcAft>
              <a:buClr>
                <a:schemeClr val="lt1"/>
              </a:buClr>
              <a:buSzPts val="9100"/>
              <a:buNone/>
              <a:defRPr sz="9100">
                <a:solidFill>
                  <a:schemeClr val="lt1"/>
                </a:solidFill>
              </a:defRPr>
            </a:lvl7pPr>
            <a:lvl8pPr lvl="7">
              <a:spcBef>
                <a:spcPts val="0"/>
              </a:spcBef>
              <a:spcAft>
                <a:spcPts val="0"/>
              </a:spcAft>
              <a:buClr>
                <a:schemeClr val="lt1"/>
              </a:buClr>
              <a:buSzPts val="9100"/>
              <a:buNone/>
              <a:defRPr sz="9100">
                <a:solidFill>
                  <a:schemeClr val="lt1"/>
                </a:solidFill>
              </a:defRPr>
            </a:lvl8pPr>
            <a:lvl9pPr lvl="8">
              <a:spcBef>
                <a:spcPts val="0"/>
              </a:spcBef>
              <a:spcAft>
                <a:spcPts val="0"/>
              </a:spcAft>
              <a:buClr>
                <a:schemeClr val="lt1"/>
              </a:buClr>
              <a:buSzPts val="9100"/>
              <a:buNone/>
              <a:defRPr sz="9100">
                <a:solidFill>
                  <a:schemeClr val="lt1"/>
                </a:solidFill>
              </a:defRPr>
            </a:lvl9pPr>
          </a:lstStyle>
          <a:p/>
        </p:txBody>
      </p:sp>
      <p:sp>
        <p:nvSpPr>
          <p:cNvPr id="20" name="Google Shape;20;g3d7f9d0349a_0_57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g3d7f9d0349a_0_578"/>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23" name="Google Shape;23;g3d7f9d0349a_0_578"/>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24" name="Google Shape;24;g3d7f9d0349a_0_57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g3d7f9d0349a_0_582"/>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27" name="Google Shape;27;g3d7f9d0349a_0_582"/>
          <p:cNvSpPr txBox="1"/>
          <p:nvPr>
            <p:ph idx="1" type="body"/>
          </p:nvPr>
        </p:nvSpPr>
        <p:spPr>
          <a:xfrm>
            <a:off x="4156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8" name="Google Shape;28;g3d7f9d0349a_0_582"/>
          <p:cNvSpPr txBox="1"/>
          <p:nvPr>
            <p:ph idx="2" type="body"/>
          </p:nvPr>
        </p:nvSpPr>
        <p:spPr>
          <a:xfrm>
            <a:off x="64432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9" name="Google Shape;29;g3d7f9d0349a_0_58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g3d7f9d0349a_0_587"/>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32" name="Google Shape;32;g3d7f9d0349a_0_58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g3d7f9d0349a_0_590"/>
          <p:cNvSpPr txBox="1"/>
          <p:nvPr>
            <p:ph type="title"/>
          </p:nvPr>
        </p:nvSpPr>
        <p:spPr>
          <a:xfrm>
            <a:off x="415600" y="842400"/>
            <a:ext cx="3744000" cy="10077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35" name="Google Shape;35;g3d7f9d0349a_0_590"/>
          <p:cNvSpPr txBox="1"/>
          <p:nvPr>
            <p:ph idx="1" type="body"/>
          </p:nvPr>
        </p:nvSpPr>
        <p:spPr>
          <a:xfrm>
            <a:off x="415600" y="1987833"/>
            <a:ext cx="3744000" cy="41040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6" name="Google Shape;36;g3d7f9d0349a_0_59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7" name="Shape 37"/>
        <p:cNvGrpSpPr/>
        <p:nvPr/>
      </p:nvGrpSpPr>
      <p:grpSpPr>
        <a:xfrm>
          <a:off x="0" y="0"/>
          <a:ext cx="0" cy="0"/>
          <a:chOff x="0" y="0"/>
          <a:chExt cx="0" cy="0"/>
        </a:xfrm>
      </p:grpSpPr>
      <p:sp>
        <p:nvSpPr>
          <p:cNvPr id="38" name="Google Shape;38;g3d7f9d0349a_0_594"/>
          <p:cNvSpPr txBox="1"/>
          <p:nvPr>
            <p:ph type="title"/>
          </p:nvPr>
        </p:nvSpPr>
        <p:spPr>
          <a:xfrm>
            <a:off x="653667" y="701800"/>
            <a:ext cx="7578300" cy="5454300"/>
          </a:xfrm>
          <a:prstGeom prst="rect">
            <a:avLst/>
          </a:prstGeom>
        </p:spPr>
        <p:txBody>
          <a:bodyPr anchorCtr="0" anchor="ctr" bIns="121900" lIns="121900" spcFirstLastPara="1" rIns="121900" wrap="square" tIns="121900">
            <a:normAutofit/>
          </a:bodyPr>
          <a:lstStyle>
            <a:lvl1pPr lvl="0">
              <a:spcBef>
                <a:spcPts val="0"/>
              </a:spcBef>
              <a:spcAft>
                <a:spcPts val="0"/>
              </a:spcAft>
              <a:buClr>
                <a:schemeClr val="lt1"/>
              </a:buClr>
              <a:buSzPts val="6400"/>
              <a:buNone/>
              <a:defRPr sz="6400">
                <a:solidFill>
                  <a:schemeClr val="lt1"/>
                </a:solidFill>
              </a:defRPr>
            </a:lvl1pPr>
            <a:lvl2pPr lvl="1">
              <a:spcBef>
                <a:spcPts val="0"/>
              </a:spcBef>
              <a:spcAft>
                <a:spcPts val="0"/>
              </a:spcAft>
              <a:buClr>
                <a:schemeClr val="lt1"/>
              </a:buClr>
              <a:buSzPts val="6400"/>
              <a:buNone/>
              <a:defRPr sz="6400">
                <a:solidFill>
                  <a:schemeClr val="lt1"/>
                </a:solidFill>
              </a:defRPr>
            </a:lvl2pPr>
            <a:lvl3pPr lvl="2">
              <a:spcBef>
                <a:spcPts val="0"/>
              </a:spcBef>
              <a:spcAft>
                <a:spcPts val="0"/>
              </a:spcAft>
              <a:buClr>
                <a:schemeClr val="lt1"/>
              </a:buClr>
              <a:buSzPts val="6400"/>
              <a:buNone/>
              <a:defRPr sz="6400">
                <a:solidFill>
                  <a:schemeClr val="lt1"/>
                </a:solidFill>
              </a:defRPr>
            </a:lvl3pPr>
            <a:lvl4pPr lvl="3">
              <a:spcBef>
                <a:spcPts val="0"/>
              </a:spcBef>
              <a:spcAft>
                <a:spcPts val="0"/>
              </a:spcAft>
              <a:buClr>
                <a:schemeClr val="lt1"/>
              </a:buClr>
              <a:buSzPts val="6400"/>
              <a:buNone/>
              <a:defRPr sz="6400">
                <a:solidFill>
                  <a:schemeClr val="lt1"/>
                </a:solidFill>
              </a:defRPr>
            </a:lvl4pPr>
            <a:lvl5pPr lvl="4">
              <a:spcBef>
                <a:spcPts val="0"/>
              </a:spcBef>
              <a:spcAft>
                <a:spcPts val="0"/>
              </a:spcAft>
              <a:buClr>
                <a:schemeClr val="lt1"/>
              </a:buClr>
              <a:buSzPts val="6400"/>
              <a:buNone/>
              <a:defRPr sz="6400">
                <a:solidFill>
                  <a:schemeClr val="lt1"/>
                </a:solidFill>
              </a:defRPr>
            </a:lvl5pPr>
            <a:lvl6pPr lvl="5">
              <a:spcBef>
                <a:spcPts val="0"/>
              </a:spcBef>
              <a:spcAft>
                <a:spcPts val="0"/>
              </a:spcAft>
              <a:buClr>
                <a:schemeClr val="lt1"/>
              </a:buClr>
              <a:buSzPts val="6400"/>
              <a:buNone/>
              <a:defRPr sz="6400">
                <a:solidFill>
                  <a:schemeClr val="lt1"/>
                </a:solidFill>
              </a:defRPr>
            </a:lvl6pPr>
            <a:lvl7pPr lvl="6">
              <a:spcBef>
                <a:spcPts val="0"/>
              </a:spcBef>
              <a:spcAft>
                <a:spcPts val="0"/>
              </a:spcAft>
              <a:buClr>
                <a:schemeClr val="lt1"/>
              </a:buClr>
              <a:buSzPts val="6400"/>
              <a:buNone/>
              <a:defRPr sz="6400">
                <a:solidFill>
                  <a:schemeClr val="lt1"/>
                </a:solidFill>
              </a:defRPr>
            </a:lvl7pPr>
            <a:lvl8pPr lvl="7">
              <a:spcBef>
                <a:spcPts val="0"/>
              </a:spcBef>
              <a:spcAft>
                <a:spcPts val="0"/>
              </a:spcAft>
              <a:buClr>
                <a:schemeClr val="lt1"/>
              </a:buClr>
              <a:buSzPts val="6400"/>
              <a:buNone/>
              <a:defRPr sz="6400">
                <a:solidFill>
                  <a:schemeClr val="lt1"/>
                </a:solidFill>
              </a:defRPr>
            </a:lvl8pPr>
            <a:lvl9pPr lvl="8">
              <a:spcBef>
                <a:spcPts val="0"/>
              </a:spcBef>
              <a:spcAft>
                <a:spcPts val="0"/>
              </a:spcAft>
              <a:buClr>
                <a:schemeClr val="lt1"/>
              </a:buClr>
              <a:buSzPts val="6400"/>
              <a:buNone/>
              <a:defRPr sz="6400">
                <a:solidFill>
                  <a:schemeClr val="lt1"/>
                </a:solidFill>
              </a:defRPr>
            </a:lvl9pPr>
          </a:lstStyle>
          <a:p/>
        </p:txBody>
      </p:sp>
      <p:sp>
        <p:nvSpPr>
          <p:cNvPr id="39" name="Google Shape;39;g3d7f9d0349a_0_59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0" name="Shape 40"/>
        <p:cNvGrpSpPr/>
        <p:nvPr/>
      </p:nvGrpSpPr>
      <p:grpSpPr>
        <a:xfrm>
          <a:off x="0" y="0"/>
          <a:ext cx="0" cy="0"/>
          <a:chOff x="0" y="0"/>
          <a:chExt cx="0" cy="0"/>
        </a:xfrm>
      </p:grpSpPr>
      <p:sp>
        <p:nvSpPr>
          <p:cNvPr id="41" name="Google Shape;41;g3d7f9d0349a_0_597"/>
          <p:cNvSpPr/>
          <p:nvPr/>
        </p:nvSpPr>
        <p:spPr>
          <a:xfrm>
            <a:off x="6096000" y="133"/>
            <a:ext cx="60960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cxnSp>
        <p:nvCxnSpPr>
          <p:cNvPr id="42" name="Google Shape;42;g3d7f9d0349a_0_597"/>
          <p:cNvCxnSpPr/>
          <p:nvPr/>
        </p:nvCxnSpPr>
        <p:spPr>
          <a:xfrm>
            <a:off x="6706233" y="5994000"/>
            <a:ext cx="624300" cy="0"/>
          </a:xfrm>
          <a:prstGeom prst="straightConnector1">
            <a:avLst/>
          </a:prstGeom>
          <a:noFill/>
          <a:ln cap="flat" cmpd="sng" w="25400">
            <a:solidFill>
              <a:schemeClr val="lt1"/>
            </a:solidFill>
            <a:prstDash val="solid"/>
            <a:round/>
            <a:headEnd len="sm" w="sm" type="none"/>
            <a:tailEnd len="sm" w="sm" type="none"/>
          </a:ln>
        </p:spPr>
      </p:cxnSp>
      <p:sp>
        <p:nvSpPr>
          <p:cNvPr id="43" name="Google Shape;43;g3d7f9d0349a_0_597"/>
          <p:cNvSpPr txBox="1"/>
          <p:nvPr>
            <p:ph type="title"/>
          </p:nvPr>
        </p:nvSpPr>
        <p:spPr>
          <a:xfrm>
            <a:off x="354000" y="1834132"/>
            <a:ext cx="5393700" cy="20691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100"/>
              <a:buNone/>
              <a:defRPr sz="5100"/>
            </a:lvl1pPr>
            <a:lvl2pPr lvl="1" algn="ctr">
              <a:spcBef>
                <a:spcPts val="0"/>
              </a:spcBef>
              <a:spcAft>
                <a:spcPts val="0"/>
              </a:spcAft>
              <a:buSzPts val="5100"/>
              <a:buNone/>
              <a:defRPr sz="5100"/>
            </a:lvl2pPr>
            <a:lvl3pPr lvl="2" algn="ctr">
              <a:spcBef>
                <a:spcPts val="0"/>
              </a:spcBef>
              <a:spcAft>
                <a:spcPts val="0"/>
              </a:spcAft>
              <a:buSzPts val="5100"/>
              <a:buNone/>
              <a:defRPr sz="5100"/>
            </a:lvl3pPr>
            <a:lvl4pPr lvl="3" algn="ctr">
              <a:spcBef>
                <a:spcPts val="0"/>
              </a:spcBef>
              <a:spcAft>
                <a:spcPts val="0"/>
              </a:spcAft>
              <a:buSzPts val="5100"/>
              <a:buNone/>
              <a:defRPr sz="5100"/>
            </a:lvl4pPr>
            <a:lvl5pPr lvl="4" algn="ctr">
              <a:spcBef>
                <a:spcPts val="0"/>
              </a:spcBef>
              <a:spcAft>
                <a:spcPts val="0"/>
              </a:spcAft>
              <a:buSzPts val="5100"/>
              <a:buNone/>
              <a:defRPr sz="5100"/>
            </a:lvl5pPr>
            <a:lvl6pPr lvl="5" algn="ctr">
              <a:spcBef>
                <a:spcPts val="0"/>
              </a:spcBef>
              <a:spcAft>
                <a:spcPts val="0"/>
              </a:spcAft>
              <a:buSzPts val="5100"/>
              <a:buNone/>
              <a:defRPr sz="5100"/>
            </a:lvl6pPr>
            <a:lvl7pPr lvl="6" algn="ctr">
              <a:spcBef>
                <a:spcPts val="0"/>
              </a:spcBef>
              <a:spcAft>
                <a:spcPts val="0"/>
              </a:spcAft>
              <a:buSzPts val="5100"/>
              <a:buNone/>
              <a:defRPr sz="5100"/>
            </a:lvl7pPr>
            <a:lvl8pPr lvl="7" algn="ctr">
              <a:spcBef>
                <a:spcPts val="0"/>
              </a:spcBef>
              <a:spcAft>
                <a:spcPts val="0"/>
              </a:spcAft>
              <a:buSzPts val="5100"/>
              <a:buNone/>
              <a:defRPr sz="5100"/>
            </a:lvl8pPr>
            <a:lvl9pPr lvl="8" algn="ctr">
              <a:spcBef>
                <a:spcPts val="0"/>
              </a:spcBef>
              <a:spcAft>
                <a:spcPts val="0"/>
              </a:spcAft>
              <a:buSzPts val="5100"/>
              <a:buNone/>
              <a:defRPr sz="5100"/>
            </a:lvl9pPr>
          </a:lstStyle>
          <a:p/>
        </p:txBody>
      </p:sp>
      <p:sp>
        <p:nvSpPr>
          <p:cNvPr id="44" name="Google Shape;44;g3d7f9d0349a_0_597"/>
          <p:cNvSpPr txBox="1"/>
          <p:nvPr>
            <p:ph idx="1" type="subTitle"/>
          </p:nvPr>
        </p:nvSpPr>
        <p:spPr>
          <a:xfrm>
            <a:off x="354000" y="3974834"/>
            <a:ext cx="5393700" cy="17940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2400"/>
              <a:buNone/>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45" name="Google Shape;45;g3d7f9d0349a_0_597"/>
          <p:cNvSpPr txBox="1"/>
          <p:nvPr>
            <p:ph idx="2" type="body"/>
          </p:nvPr>
        </p:nvSpPr>
        <p:spPr>
          <a:xfrm>
            <a:off x="6586000" y="965600"/>
            <a:ext cx="5115900" cy="49269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Clr>
                <a:schemeClr val="lt1"/>
              </a:buClr>
              <a:buSzPts val="2400"/>
              <a:buChar char="●"/>
              <a:defRPr>
                <a:solidFill>
                  <a:schemeClr val="lt1"/>
                </a:solidFill>
              </a:defRPr>
            </a:lvl1pPr>
            <a:lvl2pPr indent="-349250" lvl="1" marL="914400">
              <a:spcBef>
                <a:spcPts val="0"/>
              </a:spcBef>
              <a:spcAft>
                <a:spcPts val="0"/>
              </a:spcAft>
              <a:buClr>
                <a:schemeClr val="lt1"/>
              </a:buClr>
              <a:buSzPts val="1900"/>
              <a:buChar char="○"/>
              <a:defRPr>
                <a:solidFill>
                  <a:schemeClr val="lt1"/>
                </a:solidFill>
              </a:defRPr>
            </a:lvl2pPr>
            <a:lvl3pPr indent="-349250" lvl="2" marL="1371600">
              <a:spcBef>
                <a:spcPts val="0"/>
              </a:spcBef>
              <a:spcAft>
                <a:spcPts val="0"/>
              </a:spcAft>
              <a:buClr>
                <a:schemeClr val="lt1"/>
              </a:buClr>
              <a:buSzPts val="1900"/>
              <a:buChar char="■"/>
              <a:defRPr>
                <a:solidFill>
                  <a:schemeClr val="lt1"/>
                </a:solidFill>
              </a:defRPr>
            </a:lvl3pPr>
            <a:lvl4pPr indent="-349250" lvl="3" marL="1828800">
              <a:spcBef>
                <a:spcPts val="0"/>
              </a:spcBef>
              <a:spcAft>
                <a:spcPts val="0"/>
              </a:spcAft>
              <a:buClr>
                <a:schemeClr val="lt1"/>
              </a:buClr>
              <a:buSzPts val="1900"/>
              <a:buChar char="●"/>
              <a:defRPr>
                <a:solidFill>
                  <a:schemeClr val="lt1"/>
                </a:solidFill>
              </a:defRPr>
            </a:lvl4pPr>
            <a:lvl5pPr indent="-349250" lvl="4" marL="2286000">
              <a:spcBef>
                <a:spcPts val="0"/>
              </a:spcBef>
              <a:spcAft>
                <a:spcPts val="0"/>
              </a:spcAft>
              <a:buClr>
                <a:schemeClr val="lt1"/>
              </a:buClr>
              <a:buSzPts val="1900"/>
              <a:buChar char="○"/>
              <a:defRPr>
                <a:solidFill>
                  <a:schemeClr val="lt1"/>
                </a:solidFill>
              </a:defRPr>
            </a:lvl5pPr>
            <a:lvl6pPr indent="-349250" lvl="5" marL="2743200">
              <a:spcBef>
                <a:spcPts val="0"/>
              </a:spcBef>
              <a:spcAft>
                <a:spcPts val="0"/>
              </a:spcAft>
              <a:buClr>
                <a:schemeClr val="lt1"/>
              </a:buClr>
              <a:buSzPts val="1900"/>
              <a:buChar char="■"/>
              <a:defRPr>
                <a:solidFill>
                  <a:schemeClr val="lt1"/>
                </a:solidFill>
              </a:defRPr>
            </a:lvl6pPr>
            <a:lvl7pPr indent="-349250" lvl="6" marL="3200400">
              <a:spcBef>
                <a:spcPts val="0"/>
              </a:spcBef>
              <a:spcAft>
                <a:spcPts val="0"/>
              </a:spcAft>
              <a:buClr>
                <a:schemeClr val="lt1"/>
              </a:buClr>
              <a:buSzPts val="1900"/>
              <a:buChar char="●"/>
              <a:defRPr>
                <a:solidFill>
                  <a:schemeClr val="lt1"/>
                </a:solidFill>
              </a:defRPr>
            </a:lvl7pPr>
            <a:lvl8pPr indent="-349250" lvl="7" marL="3657600">
              <a:spcBef>
                <a:spcPts val="0"/>
              </a:spcBef>
              <a:spcAft>
                <a:spcPts val="0"/>
              </a:spcAft>
              <a:buClr>
                <a:schemeClr val="lt1"/>
              </a:buClr>
              <a:buSzPts val="1900"/>
              <a:buChar char="○"/>
              <a:defRPr>
                <a:solidFill>
                  <a:schemeClr val="lt1"/>
                </a:solidFill>
              </a:defRPr>
            </a:lvl8pPr>
            <a:lvl9pPr indent="-349250" lvl="8" marL="4114800">
              <a:spcBef>
                <a:spcPts val="0"/>
              </a:spcBef>
              <a:spcAft>
                <a:spcPts val="0"/>
              </a:spcAft>
              <a:buClr>
                <a:schemeClr val="lt1"/>
              </a:buClr>
              <a:buSzPts val="1900"/>
              <a:buChar char="■"/>
              <a:defRPr>
                <a:solidFill>
                  <a:schemeClr val="lt1"/>
                </a:solidFill>
              </a:defRPr>
            </a:lvl9pPr>
          </a:lstStyle>
          <a:p/>
        </p:txBody>
      </p:sp>
      <p:sp>
        <p:nvSpPr>
          <p:cNvPr id="46" name="Google Shape;46;g3d7f9d0349a_0_59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7" name="Shape 47"/>
        <p:cNvGrpSpPr/>
        <p:nvPr/>
      </p:nvGrpSpPr>
      <p:grpSpPr>
        <a:xfrm>
          <a:off x="0" y="0"/>
          <a:ext cx="0" cy="0"/>
          <a:chOff x="0" y="0"/>
          <a:chExt cx="0" cy="0"/>
        </a:xfrm>
      </p:grpSpPr>
      <p:sp>
        <p:nvSpPr>
          <p:cNvPr id="48" name="Google Shape;48;g3d7f9d0349a_0_604"/>
          <p:cNvSpPr txBox="1"/>
          <p:nvPr>
            <p:ph idx="1" type="body"/>
          </p:nvPr>
        </p:nvSpPr>
        <p:spPr>
          <a:xfrm>
            <a:off x="426000" y="5644967"/>
            <a:ext cx="7998300" cy="7983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Clr>
                <a:schemeClr val="accent3"/>
              </a:buClr>
              <a:buSzPts val="2400"/>
              <a:buFont typeface="Alfa Slab One"/>
              <a:buNone/>
              <a:defRPr>
                <a:solidFill>
                  <a:schemeClr val="accent3"/>
                </a:solidFill>
                <a:latin typeface="Alfa Slab One"/>
                <a:ea typeface="Alfa Slab One"/>
                <a:cs typeface="Alfa Slab One"/>
                <a:sym typeface="Alfa Slab One"/>
              </a:defRPr>
            </a:lvl1pPr>
          </a:lstStyle>
          <a:p/>
        </p:txBody>
      </p:sp>
      <p:sp>
        <p:nvSpPr>
          <p:cNvPr id="49" name="Google Shape;49;g3d7f9d0349a_0_60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0" name="Shape 50"/>
        <p:cNvGrpSpPr/>
        <p:nvPr/>
      </p:nvGrpSpPr>
      <p:grpSpPr>
        <a:xfrm>
          <a:off x="0" y="0"/>
          <a:ext cx="0" cy="0"/>
          <a:chOff x="0" y="0"/>
          <a:chExt cx="0" cy="0"/>
        </a:xfrm>
      </p:grpSpPr>
      <p:sp>
        <p:nvSpPr>
          <p:cNvPr id="51" name="Google Shape;51;g3d7f9d0349a_0_607"/>
          <p:cNvSpPr txBox="1"/>
          <p:nvPr>
            <p:ph hasCustomPrompt="1" type="title"/>
          </p:nvPr>
        </p:nvSpPr>
        <p:spPr>
          <a:xfrm>
            <a:off x="415600" y="1557233"/>
            <a:ext cx="11360700" cy="2640000"/>
          </a:xfrm>
          <a:prstGeom prst="rect">
            <a:avLst/>
          </a:prstGeom>
        </p:spPr>
        <p:txBody>
          <a:bodyPr anchorCtr="0" anchor="ctr" bIns="121900" lIns="121900" spcFirstLastPara="1" rIns="121900" wrap="square" tIns="121900">
            <a:normAutofit/>
          </a:bodyPr>
          <a:lstStyle>
            <a:lvl1pPr lvl="0" algn="ctr">
              <a:spcBef>
                <a:spcPts val="0"/>
              </a:spcBef>
              <a:spcAft>
                <a:spcPts val="0"/>
              </a:spcAft>
              <a:buClr>
                <a:schemeClr val="dk1"/>
              </a:buClr>
              <a:buSzPts val="14700"/>
              <a:buNone/>
              <a:defRPr sz="14700">
                <a:solidFill>
                  <a:schemeClr val="dk1"/>
                </a:solidFill>
              </a:defRPr>
            </a:lvl1pPr>
            <a:lvl2pPr lvl="1" algn="ctr">
              <a:spcBef>
                <a:spcPts val="0"/>
              </a:spcBef>
              <a:spcAft>
                <a:spcPts val="0"/>
              </a:spcAft>
              <a:buClr>
                <a:schemeClr val="dk1"/>
              </a:buClr>
              <a:buSzPts val="14700"/>
              <a:buNone/>
              <a:defRPr sz="14700">
                <a:solidFill>
                  <a:schemeClr val="dk1"/>
                </a:solidFill>
              </a:defRPr>
            </a:lvl2pPr>
            <a:lvl3pPr lvl="2" algn="ctr">
              <a:spcBef>
                <a:spcPts val="0"/>
              </a:spcBef>
              <a:spcAft>
                <a:spcPts val="0"/>
              </a:spcAft>
              <a:buClr>
                <a:schemeClr val="dk1"/>
              </a:buClr>
              <a:buSzPts val="14700"/>
              <a:buNone/>
              <a:defRPr sz="14700">
                <a:solidFill>
                  <a:schemeClr val="dk1"/>
                </a:solidFill>
              </a:defRPr>
            </a:lvl3pPr>
            <a:lvl4pPr lvl="3" algn="ctr">
              <a:spcBef>
                <a:spcPts val="0"/>
              </a:spcBef>
              <a:spcAft>
                <a:spcPts val="0"/>
              </a:spcAft>
              <a:buClr>
                <a:schemeClr val="dk1"/>
              </a:buClr>
              <a:buSzPts val="14700"/>
              <a:buNone/>
              <a:defRPr sz="14700">
                <a:solidFill>
                  <a:schemeClr val="dk1"/>
                </a:solidFill>
              </a:defRPr>
            </a:lvl4pPr>
            <a:lvl5pPr lvl="4" algn="ctr">
              <a:spcBef>
                <a:spcPts val="0"/>
              </a:spcBef>
              <a:spcAft>
                <a:spcPts val="0"/>
              </a:spcAft>
              <a:buClr>
                <a:schemeClr val="dk1"/>
              </a:buClr>
              <a:buSzPts val="14700"/>
              <a:buNone/>
              <a:defRPr sz="14700">
                <a:solidFill>
                  <a:schemeClr val="dk1"/>
                </a:solidFill>
              </a:defRPr>
            </a:lvl5pPr>
            <a:lvl6pPr lvl="5" algn="ctr">
              <a:spcBef>
                <a:spcPts val="0"/>
              </a:spcBef>
              <a:spcAft>
                <a:spcPts val="0"/>
              </a:spcAft>
              <a:buClr>
                <a:schemeClr val="dk1"/>
              </a:buClr>
              <a:buSzPts val="14700"/>
              <a:buNone/>
              <a:defRPr sz="14700">
                <a:solidFill>
                  <a:schemeClr val="dk1"/>
                </a:solidFill>
              </a:defRPr>
            </a:lvl6pPr>
            <a:lvl7pPr lvl="6" algn="ctr">
              <a:spcBef>
                <a:spcPts val="0"/>
              </a:spcBef>
              <a:spcAft>
                <a:spcPts val="0"/>
              </a:spcAft>
              <a:buClr>
                <a:schemeClr val="dk1"/>
              </a:buClr>
              <a:buSzPts val="14700"/>
              <a:buNone/>
              <a:defRPr sz="14700">
                <a:solidFill>
                  <a:schemeClr val="dk1"/>
                </a:solidFill>
              </a:defRPr>
            </a:lvl7pPr>
            <a:lvl8pPr lvl="7" algn="ctr">
              <a:spcBef>
                <a:spcPts val="0"/>
              </a:spcBef>
              <a:spcAft>
                <a:spcPts val="0"/>
              </a:spcAft>
              <a:buClr>
                <a:schemeClr val="dk1"/>
              </a:buClr>
              <a:buSzPts val="14700"/>
              <a:buNone/>
              <a:defRPr sz="14700">
                <a:solidFill>
                  <a:schemeClr val="dk1"/>
                </a:solidFill>
              </a:defRPr>
            </a:lvl8pPr>
            <a:lvl9pPr lvl="8" algn="ctr">
              <a:spcBef>
                <a:spcPts val="0"/>
              </a:spcBef>
              <a:spcAft>
                <a:spcPts val="0"/>
              </a:spcAft>
              <a:buClr>
                <a:schemeClr val="dk1"/>
              </a:buClr>
              <a:buSzPts val="14700"/>
              <a:buNone/>
              <a:defRPr sz="14700">
                <a:solidFill>
                  <a:schemeClr val="dk1"/>
                </a:solidFill>
              </a:defRPr>
            </a:lvl9pPr>
          </a:lstStyle>
          <a:p>
            <a:r>
              <a:t>xx%</a:t>
            </a:r>
          </a:p>
        </p:txBody>
      </p:sp>
      <p:sp>
        <p:nvSpPr>
          <p:cNvPr id="52" name="Google Shape;52;g3d7f9d0349a_0_607"/>
          <p:cNvSpPr txBox="1"/>
          <p:nvPr>
            <p:ph idx="1" type="body"/>
          </p:nvPr>
        </p:nvSpPr>
        <p:spPr>
          <a:xfrm>
            <a:off x="415600" y="4299000"/>
            <a:ext cx="11360700" cy="14289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53" name="Google Shape;53;g3d7f9d0349a_0_60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g3d7f9d0349a_0_61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6" name="Shape 56"/>
        <p:cNvGrpSpPr/>
        <p:nvPr/>
      </p:nvGrpSpPr>
      <p:grpSpPr>
        <a:xfrm>
          <a:off x="0" y="0"/>
          <a:ext cx="0" cy="0"/>
          <a:chOff x="0" y="0"/>
          <a:chExt cx="0" cy="0"/>
        </a:xfrm>
      </p:grpSpPr>
      <p:sp>
        <p:nvSpPr>
          <p:cNvPr id="57" name="Google Shape;57;g3d7f9d0349a_0_61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8" name="Google Shape;58;g3d7f9d0349a_0_61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1600"/>
              </a:spcBef>
              <a:spcAft>
                <a:spcPts val="0"/>
              </a:spcAft>
              <a:buClr>
                <a:schemeClr val="dk1"/>
              </a:buClr>
              <a:buSzPts val="1800"/>
              <a:buChar char="○"/>
              <a:defRPr/>
            </a:lvl2pPr>
            <a:lvl3pPr indent="-342900" lvl="2" marL="1371600" algn="l">
              <a:lnSpc>
                <a:spcPct val="90000"/>
              </a:lnSpc>
              <a:spcBef>
                <a:spcPts val="1600"/>
              </a:spcBef>
              <a:spcAft>
                <a:spcPts val="0"/>
              </a:spcAft>
              <a:buClr>
                <a:schemeClr val="dk1"/>
              </a:buClr>
              <a:buSzPts val="1800"/>
              <a:buChar char="■"/>
              <a:defRPr/>
            </a:lvl3pPr>
            <a:lvl4pPr indent="-342900" lvl="3" marL="1828800" algn="l">
              <a:lnSpc>
                <a:spcPct val="90000"/>
              </a:lnSpc>
              <a:spcBef>
                <a:spcPts val="1600"/>
              </a:spcBef>
              <a:spcAft>
                <a:spcPts val="0"/>
              </a:spcAft>
              <a:buClr>
                <a:schemeClr val="dk1"/>
              </a:buClr>
              <a:buSzPts val="1800"/>
              <a:buChar char="●"/>
              <a:defRPr/>
            </a:lvl4pPr>
            <a:lvl5pPr indent="-342900" lvl="4" marL="2286000" algn="l">
              <a:lnSpc>
                <a:spcPct val="90000"/>
              </a:lnSpc>
              <a:spcBef>
                <a:spcPts val="1600"/>
              </a:spcBef>
              <a:spcAft>
                <a:spcPts val="0"/>
              </a:spcAft>
              <a:buClr>
                <a:schemeClr val="dk1"/>
              </a:buClr>
              <a:buSzPts val="1800"/>
              <a:buChar char="○"/>
              <a:defRPr/>
            </a:lvl5pPr>
            <a:lvl6pPr indent="-342900" lvl="5" marL="2743200" algn="l">
              <a:lnSpc>
                <a:spcPct val="90000"/>
              </a:lnSpc>
              <a:spcBef>
                <a:spcPts val="1600"/>
              </a:spcBef>
              <a:spcAft>
                <a:spcPts val="0"/>
              </a:spcAft>
              <a:buClr>
                <a:schemeClr val="dk1"/>
              </a:buClr>
              <a:buSzPts val="1800"/>
              <a:buChar char="■"/>
              <a:defRPr/>
            </a:lvl6pPr>
            <a:lvl7pPr indent="-342900" lvl="6" marL="3200400" algn="l">
              <a:lnSpc>
                <a:spcPct val="90000"/>
              </a:lnSpc>
              <a:spcBef>
                <a:spcPts val="1600"/>
              </a:spcBef>
              <a:spcAft>
                <a:spcPts val="0"/>
              </a:spcAft>
              <a:buClr>
                <a:schemeClr val="dk1"/>
              </a:buClr>
              <a:buSzPts val="1800"/>
              <a:buChar char="●"/>
              <a:defRPr/>
            </a:lvl7pPr>
            <a:lvl8pPr indent="-342900" lvl="7" marL="3657600" algn="l">
              <a:lnSpc>
                <a:spcPct val="90000"/>
              </a:lnSpc>
              <a:spcBef>
                <a:spcPts val="1600"/>
              </a:spcBef>
              <a:spcAft>
                <a:spcPts val="0"/>
              </a:spcAft>
              <a:buClr>
                <a:schemeClr val="dk1"/>
              </a:buClr>
              <a:buSzPts val="1800"/>
              <a:buChar char="○"/>
              <a:defRPr/>
            </a:lvl8pPr>
            <a:lvl9pPr indent="-342900" lvl="8" marL="4114800" algn="l">
              <a:lnSpc>
                <a:spcPct val="90000"/>
              </a:lnSpc>
              <a:spcBef>
                <a:spcPts val="1600"/>
              </a:spcBef>
              <a:spcAft>
                <a:spcPts val="1600"/>
              </a:spcAft>
              <a:buClr>
                <a:schemeClr val="dk1"/>
              </a:buClr>
              <a:buSzPts val="1800"/>
              <a:buChar char="■"/>
              <a:defRPr/>
            </a:lvl9pPr>
          </a:lstStyle>
          <a:p/>
        </p:txBody>
      </p:sp>
      <p:sp>
        <p:nvSpPr>
          <p:cNvPr id="59" name="Google Shape;59;g3d7f9d0349a_0_61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g3d7f9d0349a_0_61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g3d7f9d0349a_0_61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9" name="Shape 9"/>
        <p:cNvGrpSpPr/>
        <p:nvPr/>
      </p:nvGrpSpPr>
      <p:grpSpPr>
        <a:xfrm>
          <a:off x="0" y="0"/>
          <a:ext cx="0" cy="0"/>
          <a:chOff x="0" y="0"/>
          <a:chExt cx="0" cy="0"/>
        </a:xfrm>
      </p:grpSpPr>
      <p:sp>
        <p:nvSpPr>
          <p:cNvPr id="10" name="Google Shape;10;g3d7f9d0349a_0_566"/>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1pPr>
            <a:lvl2pPr lvl="1">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2pPr>
            <a:lvl3pPr lvl="2">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3pPr>
            <a:lvl4pPr lvl="3">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4pPr>
            <a:lvl5pPr lvl="4">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5pPr>
            <a:lvl6pPr lvl="5">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6pPr>
            <a:lvl7pPr lvl="6">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7pPr>
            <a:lvl8pPr lvl="7">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8pPr>
            <a:lvl9pPr lvl="8">
              <a:spcBef>
                <a:spcPts val="0"/>
              </a:spcBef>
              <a:spcAft>
                <a:spcPts val="0"/>
              </a:spcAft>
              <a:buClr>
                <a:schemeClr val="accent3"/>
              </a:buClr>
              <a:buSzPts val="4000"/>
              <a:buFont typeface="Alfa Slab One"/>
              <a:buNone/>
              <a:defRPr sz="4000">
                <a:solidFill>
                  <a:schemeClr val="accent3"/>
                </a:solidFill>
                <a:latin typeface="Alfa Slab One"/>
                <a:ea typeface="Alfa Slab One"/>
                <a:cs typeface="Alfa Slab One"/>
                <a:sym typeface="Alfa Slab One"/>
              </a:defRPr>
            </a:lvl9pPr>
          </a:lstStyle>
          <a:p/>
        </p:txBody>
      </p:sp>
      <p:sp>
        <p:nvSpPr>
          <p:cNvPr id="11" name="Google Shape;11;g3d7f9d0349a_0_566"/>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dk2"/>
              </a:buClr>
              <a:buSzPts val="2400"/>
              <a:buFont typeface="Proxima Nova"/>
              <a:buChar char="●"/>
              <a:defRPr sz="2400">
                <a:solidFill>
                  <a:schemeClr val="dk2"/>
                </a:solidFill>
                <a:latin typeface="Proxima Nova"/>
                <a:ea typeface="Proxima Nova"/>
                <a:cs typeface="Proxima Nova"/>
                <a:sym typeface="Proxima Nova"/>
              </a:defRPr>
            </a:lvl1pPr>
            <a:lvl2pPr indent="-349250" lvl="1" marL="91440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2pPr>
            <a:lvl3pPr indent="-349250" lvl="2" marL="137160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3pPr>
            <a:lvl4pPr indent="-349250" lvl="3" marL="182880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4pPr>
            <a:lvl5pPr indent="-349250" lvl="4" marL="228600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5pPr>
            <a:lvl6pPr indent="-349250" lvl="5" marL="274320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6pPr>
            <a:lvl7pPr indent="-349250" lvl="6" marL="320040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7pPr>
            <a:lvl8pPr indent="-349250" lvl="7" marL="365760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8pPr>
            <a:lvl9pPr indent="-349250" lvl="8" marL="4114800">
              <a:lnSpc>
                <a:spcPct val="115000"/>
              </a:lnSpc>
              <a:spcBef>
                <a:spcPts val="0"/>
              </a:spcBef>
              <a:spcAft>
                <a:spcPts val="0"/>
              </a:spcAft>
              <a:buClr>
                <a:schemeClr val="dk2"/>
              </a:buClr>
              <a:buSzPts val="1900"/>
              <a:buFont typeface="Proxima Nova"/>
              <a:buChar char="■"/>
              <a:defRPr sz="1900">
                <a:solidFill>
                  <a:schemeClr val="dk2"/>
                </a:solidFill>
                <a:latin typeface="Proxima Nova"/>
                <a:ea typeface="Proxima Nova"/>
                <a:cs typeface="Proxima Nova"/>
                <a:sym typeface="Proxima Nova"/>
              </a:defRPr>
            </a:lvl9pPr>
          </a:lstStyle>
          <a:p/>
        </p:txBody>
      </p:sp>
      <p:sp>
        <p:nvSpPr>
          <p:cNvPr id="12" name="Google Shape;12;g3d7f9d0349a_0_566"/>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2"/>
                </a:solidFill>
                <a:latin typeface="Proxima Nova"/>
                <a:ea typeface="Proxima Nova"/>
                <a:cs typeface="Proxima Nova"/>
                <a:sym typeface="Proxima Nova"/>
              </a:defRPr>
            </a:lvl1pPr>
            <a:lvl2pPr lvl="1" algn="r">
              <a:buNone/>
              <a:defRPr sz="1300">
                <a:solidFill>
                  <a:schemeClr val="dk2"/>
                </a:solidFill>
                <a:latin typeface="Proxima Nova"/>
                <a:ea typeface="Proxima Nova"/>
                <a:cs typeface="Proxima Nova"/>
                <a:sym typeface="Proxima Nova"/>
              </a:defRPr>
            </a:lvl2pPr>
            <a:lvl3pPr lvl="2" algn="r">
              <a:buNone/>
              <a:defRPr sz="1300">
                <a:solidFill>
                  <a:schemeClr val="dk2"/>
                </a:solidFill>
                <a:latin typeface="Proxima Nova"/>
                <a:ea typeface="Proxima Nova"/>
                <a:cs typeface="Proxima Nova"/>
                <a:sym typeface="Proxima Nova"/>
              </a:defRPr>
            </a:lvl3pPr>
            <a:lvl4pPr lvl="3" algn="r">
              <a:buNone/>
              <a:defRPr sz="1300">
                <a:solidFill>
                  <a:schemeClr val="dk2"/>
                </a:solidFill>
                <a:latin typeface="Proxima Nova"/>
                <a:ea typeface="Proxima Nova"/>
                <a:cs typeface="Proxima Nova"/>
                <a:sym typeface="Proxima Nova"/>
              </a:defRPr>
            </a:lvl4pPr>
            <a:lvl5pPr lvl="4" algn="r">
              <a:buNone/>
              <a:defRPr sz="1300">
                <a:solidFill>
                  <a:schemeClr val="dk2"/>
                </a:solidFill>
                <a:latin typeface="Proxima Nova"/>
                <a:ea typeface="Proxima Nova"/>
                <a:cs typeface="Proxima Nova"/>
                <a:sym typeface="Proxima Nova"/>
              </a:defRPr>
            </a:lvl5pPr>
            <a:lvl6pPr lvl="5" algn="r">
              <a:buNone/>
              <a:defRPr sz="1300">
                <a:solidFill>
                  <a:schemeClr val="dk2"/>
                </a:solidFill>
                <a:latin typeface="Proxima Nova"/>
                <a:ea typeface="Proxima Nova"/>
                <a:cs typeface="Proxima Nova"/>
                <a:sym typeface="Proxima Nova"/>
              </a:defRPr>
            </a:lvl6pPr>
            <a:lvl7pPr lvl="6" algn="r">
              <a:buNone/>
              <a:defRPr sz="1300">
                <a:solidFill>
                  <a:schemeClr val="dk2"/>
                </a:solidFill>
                <a:latin typeface="Proxima Nova"/>
                <a:ea typeface="Proxima Nova"/>
                <a:cs typeface="Proxima Nova"/>
                <a:sym typeface="Proxima Nova"/>
              </a:defRPr>
            </a:lvl7pPr>
            <a:lvl8pPr lvl="7" algn="r">
              <a:buNone/>
              <a:defRPr sz="1300">
                <a:solidFill>
                  <a:schemeClr val="dk2"/>
                </a:solidFill>
                <a:latin typeface="Proxima Nova"/>
                <a:ea typeface="Proxima Nova"/>
                <a:cs typeface="Proxima Nova"/>
                <a:sym typeface="Proxima Nova"/>
              </a:defRPr>
            </a:lvl8pPr>
            <a:lvl9pPr lvl="8" algn="r">
              <a:buNone/>
              <a:defRPr sz="1300">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
          <p:cNvSpPr txBox="1"/>
          <p:nvPr>
            <p:ph type="ctrTitle"/>
          </p:nvPr>
        </p:nvSpPr>
        <p:spPr>
          <a:xfrm>
            <a:off x="411200" y="815425"/>
            <a:ext cx="11169900" cy="23877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5400"/>
              <a:buFont typeface="Play"/>
              <a:buNone/>
            </a:pPr>
            <a:r>
              <a:rPr b="1" lang="en-GB" sz="5180"/>
              <a:t>E-handel – analysera  försäljning, kundbeteende och returmönster</a:t>
            </a:r>
            <a:endParaRPr sz="5180"/>
          </a:p>
        </p:txBody>
      </p:sp>
      <p:pic>
        <p:nvPicPr>
          <p:cNvPr id="67" name="Google Shape;67;p1"/>
          <p:cNvPicPr preferRelativeResize="0"/>
          <p:nvPr/>
        </p:nvPicPr>
        <p:blipFill>
          <a:blip r:embed="rId3">
            <a:alphaModFix/>
          </a:blip>
          <a:stretch>
            <a:fillRect/>
          </a:stretch>
        </p:blipFill>
        <p:spPr>
          <a:xfrm>
            <a:off x="4655376" y="4783250"/>
            <a:ext cx="2881236" cy="1920824"/>
          </a:xfrm>
          <a:prstGeom prst="rect">
            <a:avLst/>
          </a:prstGeom>
          <a:noFill/>
          <a:ln>
            <a:noFill/>
          </a:ln>
        </p:spPr>
      </p:pic>
      <p:sp>
        <p:nvSpPr>
          <p:cNvPr id="68" name="Google Shape;68;p1"/>
          <p:cNvSpPr txBox="1"/>
          <p:nvPr>
            <p:ph idx="1" type="subTitle"/>
          </p:nvPr>
        </p:nvSpPr>
        <p:spPr>
          <a:xfrm>
            <a:off x="1424150" y="3742063"/>
            <a:ext cx="9144000" cy="1655700"/>
          </a:xfrm>
          <a:prstGeom prst="rect">
            <a:avLst/>
          </a:prstGeom>
          <a:noFill/>
          <a:ln>
            <a:noFill/>
          </a:ln>
        </p:spPr>
        <p:txBody>
          <a:bodyPr anchorCtr="0" anchor="t" bIns="45700" lIns="91425" spcFirstLastPara="1" rIns="91425" wrap="square" tIns="45700">
            <a:normAutofit lnSpcReduction="10000"/>
          </a:bodyPr>
          <a:lstStyle/>
          <a:p>
            <a:pPr indent="0" lvl="0" marL="0" rtl="0" algn="ctr">
              <a:lnSpc>
                <a:spcPct val="90000"/>
              </a:lnSpc>
              <a:spcBef>
                <a:spcPts val="1000"/>
              </a:spcBef>
              <a:spcAft>
                <a:spcPts val="0"/>
              </a:spcAft>
              <a:buClr>
                <a:schemeClr val="dk1"/>
              </a:buClr>
              <a:buSzPts val="2400"/>
              <a:buNone/>
            </a:pPr>
            <a:r>
              <a:rPr lang="en-GB"/>
              <a:t>Katarina Behrami, </a:t>
            </a:r>
            <a:r>
              <a:rPr lang="en-GB"/>
              <a:t>Linnéa Emanuelsson,</a:t>
            </a:r>
            <a:endParaRPr/>
          </a:p>
          <a:p>
            <a:pPr indent="0" lvl="0" marL="0" rtl="0" algn="ctr">
              <a:lnSpc>
                <a:spcPct val="90000"/>
              </a:lnSpc>
              <a:spcBef>
                <a:spcPts val="1000"/>
              </a:spcBef>
              <a:spcAft>
                <a:spcPts val="0"/>
              </a:spcAft>
              <a:buClr>
                <a:schemeClr val="dk1"/>
              </a:buClr>
              <a:buSzPts val="2400"/>
              <a:buNone/>
            </a:pPr>
            <a:r>
              <a:rPr lang="en-GB"/>
              <a:t>Victoria Fyrmössa, </a:t>
            </a:r>
            <a:r>
              <a:rPr lang="en-GB"/>
              <a:t>Rasmus Svensson,</a:t>
            </a:r>
            <a:endParaRPr/>
          </a:p>
          <a:p>
            <a:pPr indent="0" lvl="0" marL="0" rtl="0" algn="ctr">
              <a:lnSpc>
                <a:spcPct val="90000"/>
              </a:lnSpc>
              <a:spcBef>
                <a:spcPts val="1000"/>
              </a:spcBef>
              <a:spcAft>
                <a:spcPts val="0"/>
              </a:spcAft>
              <a:buClr>
                <a:schemeClr val="dk1"/>
              </a:buClr>
              <a:buSzPts val="2400"/>
              <a:buNone/>
            </a:pPr>
            <a:r>
              <a:rPr lang="en-GB"/>
              <a:t>Ummulbanin Ummulbanin,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2"/>
          <p:cNvSpPr txBox="1"/>
          <p:nvPr>
            <p:ph type="title"/>
          </p:nvPr>
        </p:nvSpPr>
        <p:spPr>
          <a:xfrm>
            <a:off x="838200" y="0"/>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lang="en-GB"/>
              <a:t>1. Case och syfte</a:t>
            </a:r>
            <a:endParaRPr/>
          </a:p>
        </p:txBody>
      </p:sp>
      <p:sp>
        <p:nvSpPr>
          <p:cNvPr id="74" name="Google Shape;74;p2"/>
          <p:cNvSpPr txBox="1"/>
          <p:nvPr>
            <p:ph idx="1" type="body"/>
          </p:nvPr>
        </p:nvSpPr>
        <p:spPr>
          <a:xfrm>
            <a:off x="838200" y="1325700"/>
            <a:ext cx="10515600" cy="5532300"/>
          </a:xfrm>
          <a:prstGeom prst="rect">
            <a:avLst/>
          </a:prstGeom>
          <a:noFill/>
          <a:ln>
            <a:noFill/>
          </a:ln>
        </p:spPr>
        <p:txBody>
          <a:bodyPr anchorCtr="0" anchor="t" bIns="45700" lIns="91425" spcFirstLastPara="1" rIns="91425" wrap="square" tIns="45700">
            <a:normAutofit fontScale="62500" lnSpcReduction="20000"/>
          </a:bodyPr>
          <a:lstStyle/>
          <a:p>
            <a:pPr indent="0" lvl="0" marL="0" marR="0" rtl="0" algn="l">
              <a:lnSpc>
                <a:spcPct val="90000"/>
              </a:lnSpc>
              <a:spcBef>
                <a:spcPts val="1000"/>
              </a:spcBef>
              <a:spcAft>
                <a:spcPts val="0"/>
              </a:spcAft>
              <a:buNone/>
            </a:pPr>
            <a:r>
              <a:rPr b="1" lang="en-GB" sz="2982"/>
              <a:t>Case: E-handel</a:t>
            </a:r>
            <a:endParaRPr b="1" sz="2982"/>
          </a:p>
          <a:p>
            <a:pPr indent="0" lvl="0" marL="0" rtl="0" algn="l">
              <a:lnSpc>
                <a:spcPct val="115000"/>
              </a:lnSpc>
              <a:spcBef>
                <a:spcPts val="1200"/>
              </a:spcBef>
              <a:spcAft>
                <a:spcPts val="0"/>
              </a:spcAft>
              <a:buNone/>
            </a:pPr>
            <a:r>
              <a:rPr lang="en-GB"/>
              <a:t>Vi arbetar som ett analysteam på ett e-handelsföretag som säljer produkter inom flera kategorier till kunder i olika regioner. Företaget samlar in data om bland annat:</a:t>
            </a:r>
            <a:endParaRPr/>
          </a:p>
          <a:p>
            <a:pPr indent="-255270" lvl="0" marL="228600" marR="0" rtl="0" algn="l">
              <a:lnSpc>
                <a:spcPct val="90000"/>
              </a:lnSpc>
              <a:spcBef>
                <a:spcPts val="1200"/>
              </a:spcBef>
              <a:spcAft>
                <a:spcPts val="0"/>
              </a:spcAft>
              <a:buSzPct val="100000"/>
              <a:buChar char="●"/>
            </a:pPr>
            <a:r>
              <a:rPr lang="en-GB" sz="2800"/>
              <a:t>ordrar</a:t>
            </a:r>
            <a:endParaRPr sz="2800"/>
          </a:p>
          <a:p>
            <a:pPr indent="-255270" lvl="0" marL="228600" marR="0" rtl="0" algn="l">
              <a:lnSpc>
                <a:spcPct val="90000"/>
              </a:lnSpc>
              <a:spcBef>
                <a:spcPts val="1000"/>
              </a:spcBef>
              <a:spcAft>
                <a:spcPts val="0"/>
              </a:spcAft>
              <a:buSzPct val="100000"/>
              <a:buChar char="●"/>
            </a:pPr>
            <a:r>
              <a:rPr lang="en-GB" sz="2800"/>
              <a:t>kunder</a:t>
            </a:r>
            <a:endParaRPr sz="2800"/>
          </a:p>
          <a:p>
            <a:pPr indent="-255270" lvl="0" marL="228600" marR="0" rtl="0" algn="l">
              <a:lnSpc>
                <a:spcPct val="90000"/>
              </a:lnSpc>
              <a:spcBef>
                <a:spcPts val="1000"/>
              </a:spcBef>
              <a:spcAft>
                <a:spcPts val="0"/>
              </a:spcAft>
              <a:buSzPct val="100000"/>
              <a:buChar char="●"/>
            </a:pPr>
            <a:r>
              <a:rPr lang="en-GB" sz="2800"/>
              <a:t>rabatter</a:t>
            </a:r>
            <a:endParaRPr sz="2800"/>
          </a:p>
          <a:p>
            <a:pPr indent="-255270" lvl="0" marL="228600" marR="0" rtl="0" algn="l">
              <a:lnSpc>
                <a:spcPct val="90000"/>
              </a:lnSpc>
              <a:spcBef>
                <a:spcPts val="1000"/>
              </a:spcBef>
              <a:spcAft>
                <a:spcPts val="0"/>
              </a:spcAft>
              <a:buSzPct val="100000"/>
              <a:buChar char="●"/>
            </a:pPr>
            <a:r>
              <a:rPr lang="en-GB" sz="2800"/>
              <a:t>leveranstider</a:t>
            </a:r>
            <a:endParaRPr sz="2800"/>
          </a:p>
          <a:p>
            <a:pPr indent="-255270" lvl="0" marL="228600" marR="0" rtl="0" algn="l">
              <a:lnSpc>
                <a:spcPct val="90000"/>
              </a:lnSpc>
              <a:spcBef>
                <a:spcPts val="1000"/>
              </a:spcBef>
              <a:spcAft>
                <a:spcPts val="0"/>
              </a:spcAft>
              <a:buSzPct val="100000"/>
              <a:buChar char="●"/>
            </a:pPr>
            <a:r>
              <a:rPr lang="en-GB" sz="2800"/>
              <a:t>returer</a:t>
            </a:r>
            <a:endParaRPr sz="2800"/>
          </a:p>
          <a:p>
            <a:pPr indent="0" lvl="0" marL="0" marR="0" rtl="0" algn="l">
              <a:lnSpc>
                <a:spcPct val="90000"/>
              </a:lnSpc>
              <a:spcBef>
                <a:spcPts val="1000"/>
              </a:spcBef>
              <a:spcAft>
                <a:spcPts val="0"/>
              </a:spcAft>
              <a:buNone/>
            </a:pPr>
            <a:r>
              <a:rPr lang="en-GB"/>
              <a:t>Företaget vill använda data för att förstå sin verksamhet bättre.</a:t>
            </a:r>
            <a:br>
              <a:rPr lang="en-GB"/>
            </a:br>
            <a:endParaRPr/>
          </a:p>
          <a:p>
            <a:pPr indent="0" lvl="0" marL="0" marR="0" rtl="0" algn="l">
              <a:lnSpc>
                <a:spcPct val="90000"/>
              </a:lnSpc>
              <a:spcBef>
                <a:spcPts val="1000"/>
              </a:spcBef>
              <a:spcAft>
                <a:spcPts val="0"/>
              </a:spcAft>
              <a:buNone/>
            </a:pPr>
            <a:r>
              <a:rPr b="1" lang="en-GB" sz="2982"/>
              <a:t>Syfte med analysen</a:t>
            </a:r>
            <a:endParaRPr/>
          </a:p>
          <a:p>
            <a:pPr indent="-255270" lvl="0" marL="228600" marR="0" rtl="0" algn="l">
              <a:lnSpc>
                <a:spcPct val="90000"/>
              </a:lnSpc>
              <a:spcBef>
                <a:spcPts val="1000"/>
              </a:spcBef>
              <a:spcAft>
                <a:spcPts val="0"/>
              </a:spcAft>
              <a:buSzPct val="116667"/>
              <a:buChar char="●"/>
            </a:pPr>
            <a:r>
              <a:rPr lang="en-GB"/>
              <a:t>Identifiera </a:t>
            </a:r>
            <a:r>
              <a:rPr b="1" lang="en-GB"/>
              <a:t>vilka produktkategorier som driver försäljning</a:t>
            </a:r>
            <a:endParaRPr b="1"/>
          </a:p>
          <a:p>
            <a:pPr indent="-255270" lvl="0" marL="228600" marR="0" rtl="0" algn="l">
              <a:lnSpc>
                <a:spcPct val="90000"/>
              </a:lnSpc>
              <a:spcBef>
                <a:spcPts val="1000"/>
              </a:spcBef>
              <a:spcAft>
                <a:spcPts val="0"/>
              </a:spcAft>
              <a:buSzPct val="116667"/>
              <a:buChar char="●"/>
            </a:pPr>
            <a:r>
              <a:rPr lang="en-GB"/>
              <a:t>Undersöka </a:t>
            </a:r>
            <a:r>
              <a:rPr b="1" lang="en-GB"/>
              <a:t>samband mellan leveranstid och returer</a:t>
            </a:r>
            <a:endParaRPr b="1"/>
          </a:p>
          <a:p>
            <a:pPr indent="-255270" lvl="0" marL="228600" marR="0" rtl="0" algn="l">
              <a:lnSpc>
                <a:spcPct val="90000"/>
              </a:lnSpc>
              <a:spcBef>
                <a:spcPts val="1000"/>
              </a:spcBef>
              <a:spcAft>
                <a:spcPts val="0"/>
              </a:spcAft>
              <a:buSzPct val="116667"/>
              <a:buChar char="●"/>
            </a:pPr>
            <a:r>
              <a:rPr lang="en-GB"/>
              <a:t>Analysera </a:t>
            </a:r>
            <a:r>
              <a:rPr b="1" lang="en-GB"/>
              <a:t>skillnader mellan kundsegment och kundtyper</a:t>
            </a:r>
            <a:endParaRPr b="1"/>
          </a:p>
          <a:p>
            <a:pPr indent="-255270" lvl="0" marL="228600" marR="0" rtl="0" algn="l">
              <a:lnSpc>
                <a:spcPct val="90000"/>
              </a:lnSpc>
              <a:spcBef>
                <a:spcPts val="1000"/>
              </a:spcBef>
              <a:spcAft>
                <a:spcPts val="0"/>
              </a:spcAft>
              <a:buSzPct val="116667"/>
              <a:buChar char="●"/>
            </a:pPr>
            <a:r>
              <a:rPr lang="en-GB"/>
              <a:t>Utvärdera om r</a:t>
            </a:r>
            <a:r>
              <a:rPr b="1" lang="en-GB"/>
              <a:t>abatter påverkar ordervärde</a:t>
            </a:r>
            <a:br>
              <a:rPr lang="en-GB"/>
            </a:br>
            <a:endParaRPr/>
          </a:p>
          <a:p>
            <a:pPr indent="0" lvl="0" marL="0" marR="0" rtl="0" algn="ctr">
              <a:lnSpc>
                <a:spcPct val="110000"/>
              </a:lnSpc>
              <a:spcBef>
                <a:spcPts val="1000"/>
              </a:spcBef>
              <a:spcAft>
                <a:spcPts val="0"/>
              </a:spcAft>
              <a:buNone/>
            </a:pPr>
            <a:r>
              <a:rPr b="1" lang="en-GB"/>
              <a:t>Målet är att ta fram insikter som kan stödja affärsbeslut, alltså göra en tydlig och relevant dataanalys i R och presentera insikter på ett sätt som går att förstå och använda.</a:t>
            </a:r>
            <a:endParaRPr b="1" sz="2900"/>
          </a:p>
        </p:txBody>
      </p:sp>
      <p:sp>
        <p:nvSpPr>
          <p:cNvPr id="75" name="Google Shape;75;p2"/>
          <p:cNvSpPr/>
          <p:nvPr/>
        </p:nvSpPr>
        <p:spPr>
          <a:xfrm>
            <a:off x="3610076" y="1139788"/>
            <a:ext cx="5410200" cy="18288"/>
          </a:xfrm>
          <a:custGeom>
            <a:rect b="b" l="l" r="r" t="t"/>
            <a:pathLst>
              <a:path extrusionOk="0" fill="none" h="18288" w="541020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extrusionOk="0" h="18288" w="541020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76" name="Google Shape;76;p2"/>
          <p:cNvPicPr preferRelativeResize="0"/>
          <p:nvPr/>
        </p:nvPicPr>
        <p:blipFill>
          <a:blip r:embed="rId3">
            <a:alphaModFix/>
          </a:blip>
          <a:stretch>
            <a:fillRect/>
          </a:stretch>
        </p:blipFill>
        <p:spPr>
          <a:xfrm>
            <a:off x="8097675" y="2591175"/>
            <a:ext cx="3613125" cy="24087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 name="Shape 80"/>
        <p:cNvGrpSpPr/>
        <p:nvPr/>
      </p:nvGrpSpPr>
      <p:grpSpPr>
        <a:xfrm>
          <a:off x="0" y="0"/>
          <a:ext cx="0" cy="0"/>
          <a:chOff x="0" y="0"/>
          <a:chExt cx="0" cy="0"/>
        </a:xfrm>
      </p:grpSpPr>
      <p:sp>
        <p:nvSpPr>
          <p:cNvPr id="81" name="Google Shape;81;p3"/>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82" name="Google Shape;82;p3"/>
          <p:cNvSpPr txBox="1"/>
          <p:nvPr>
            <p:ph type="title"/>
          </p:nvPr>
        </p:nvSpPr>
        <p:spPr>
          <a:xfrm>
            <a:off x="638881" y="670218"/>
            <a:ext cx="10909640" cy="106583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6600"/>
              <a:buFont typeface="Play"/>
              <a:buNone/>
            </a:pPr>
            <a:r>
              <a:rPr lang="en-GB" sz="4100"/>
              <a:t>2. Kort om datasetet</a:t>
            </a:r>
            <a:endParaRPr sz="4100"/>
          </a:p>
        </p:txBody>
      </p:sp>
      <p:sp>
        <p:nvSpPr>
          <p:cNvPr id="83" name="Google Shape;83;p3"/>
          <p:cNvSpPr/>
          <p:nvPr/>
        </p:nvSpPr>
        <p:spPr>
          <a:xfrm>
            <a:off x="3389376" y="1800088"/>
            <a:ext cx="5410200" cy="18288"/>
          </a:xfrm>
          <a:custGeom>
            <a:rect b="b" l="l" r="r" t="t"/>
            <a:pathLst>
              <a:path extrusionOk="0" fill="none" h="18288" w="541020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extrusionOk="0" h="18288" w="541020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84" name="Google Shape;84;p3"/>
          <p:cNvPicPr preferRelativeResize="0"/>
          <p:nvPr/>
        </p:nvPicPr>
        <p:blipFill rotWithShape="1">
          <a:blip r:embed="rId3">
            <a:alphaModFix/>
          </a:blip>
          <a:srcRect b="0" l="0" r="0" t="0"/>
          <a:stretch/>
        </p:blipFill>
        <p:spPr>
          <a:xfrm>
            <a:off x="4347099" y="2797750"/>
            <a:ext cx="3432501" cy="2857749"/>
          </a:xfrm>
          <a:prstGeom prst="rect">
            <a:avLst/>
          </a:prstGeom>
          <a:noFill/>
          <a:ln>
            <a:noFill/>
          </a:ln>
        </p:spPr>
      </p:pic>
      <p:pic>
        <p:nvPicPr>
          <p:cNvPr id="85" name="Google Shape;85;p3"/>
          <p:cNvPicPr preferRelativeResize="0"/>
          <p:nvPr/>
        </p:nvPicPr>
        <p:blipFill rotWithShape="1">
          <a:blip r:embed="rId4">
            <a:alphaModFix/>
          </a:blip>
          <a:srcRect b="0" l="0" r="0" t="0"/>
          <a:stretch/>
        </p:blipFill>
        <p:spPr>
          <a:xfrm>
            <a:off x="7954108" y="2723651"/>
            <a:ext cx="3758185" cy="3128906"/>
          </a:xfrm>
          <a:prstGeom prst="rect">
            <a:avLst/>
          </a:prstGeom>
          <a:noFill/>
          <a:ln>
            <a:noFill/>
          </a:ln>
        </p:spPr>
      </p:pic>
      <p:grpSp>
        <p:nvGrpSpPr>
          <p:cNvPr id="86" name="Google Shape;86;p3"/>
          <p:cNvGrpSpPr/>
          <p:nvPr/>
        </p:nvGrpSpPr>
        <p:grpSpPr>
          <a:xfrm>
            <a:off x="414300" y="2348019"/>
            <a:ext cx="3758295" cy="2661263"/>
            <a:chOff x="0" y="1189989"/>
            <a:chExt cx="3546900" cy="1995997"/>
          </a:xfrm>
        </p:grpSpPr>
        <p:sp>
          <p:nvSpPr>
            <p:cNvPr id="87" name="Google Shape;87;p3"/>
            <p:cNvSpPr/>
            <p:nvPr/>
          </p:nvSpPr>
          <p:spPr>
            <a:xfrm>
              <a:off x="0" y="1189989"/>
              <a:ext cx="3546900" cy="669000"/>
            </a:xfrm>
            <a:prstGeom prst="flowChartAlternateProcess">
              <a:avLst/>
            </a:prstGeom>
            <a:solidFill>
              <a:srgbClr val="129051"/>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GB" sz="1900">
                  <a:solidFill>
                    <a:srgbClr val="FFFFFF"/>
                  </a:solidFill>
                  <a:latin typeface="Roboto"/>
                  <a:ea typeface="Roboto"/>
                  <a:cs typeface="Roboto"/>
                  <a:sym typeface="Roboto"/>
                </a:rPr>
                <a:t>Frågeställningar</a:t>
              </a:r>
              <a:endParaRPr sz="1900">
                <a:solidFill>
                  <a:srgbClr val="FFFFFF"/>
                </a:solidFill>
                <a:latin typeface="Roboto"/>
                <a:ea typeface="Roboto"/>
                <a:cs typeface="Roboto"/>
                <a:sym typeface="Roboto"/>
              </a:endParaRPr>
            </a:p>
          </p:txBody>
        </p:sp>
        <p:sp>
          <p:nvSpPr>
            <p:cNvPr id="88" name="Google Shape;88;p3"/>
            <p:cNvSpPr txBox="1"/>
            <p:nvPr/>
          </p:nvSpPr>
          <p:spPr>
            <a:xfrm>
              <a:off x="153749" y="1913087"/>
              <a:ext cx="3239400" cy="1272900"/>
            </a:xfrm>
            <a:prstGeom prst="rect">
              <a:avLst/>
            </a:prstGeom>
            <a:noFill/>
            <a:ln>
              <a:noFill/>
            </a:ln>
          </p:spPr>
          <p:txBody>
            <a:bodyPr anchorCtr="0" anchor="t" bIns="121900" lIns="121900" spcFirstLastPara="1" rIns="121900" wrap="square" tIns="121900">
              <a:noAutofit/>
            </a:bodyPr>
            <a:lstStyle/>
            <a:p>
              <a:pPr indent="-311150" lvl="0" marL="457200" rtl="0" algn="l">
                <a:lnSpc>
                  <a:spcPct val="115000"/>
                </a:lnSpc>
                <a:spcBef>
                  <a:spcPts val="0"/>
                </a:spcBef>
                <a:spcAft>
                  <a:spcPts val="0"/>
                </a:spcAft>
                <a:buSzPts val="1300"/>
                <a:buFont typeface="Calibri"/>
                <a:buAutoNum type="arabicPeriod"/>
              </a:pPr>
              <a:r>
                <a:rPr lang="en-GB" sz="1300">
                  <a:latin typeface="Calibri"/>
                  <a:ea typeface="Calibri"/>
                  <a:cs typeface="Calibri"/>
                  <a:sym typeface="Calibri"/>
                </a:rPr>
                <a:t>Vilka produktkategorier verkar driva högst försäljning?</a:t>
              </a:r>
              <a:endParaRPr sz="1300">
                <a:latin typeface="Calibri"/>
                <a:ea typeface="Calibri"/>
                <a:cs typeface="Calibri"/>
                <a:sym typeface="Calibri"/>
              </a:endParaRPr>
            </a:p>
            <a:p>
              <a:pPr indent="-311150" lvl="0" marL="457200" rtl="0" algn="l">
                <a:lnSpc>
                  <a:spcPct val="115000"/>
                </a:lnSpc>
                <a:spcBef>
                  <a:spcPts val="0"/>
                </a:spcBef>
                <a:spcAft>
                  <a:spcPts val="0"/>
                </a:spcAft>
                <a:buSzPts val="1300"/>
                <a:buFont typeface="Calibri"/>
                <a:buAutoNum type="arabicPeriod"/>
              </a:pPr>
              <a:r>
                <a:rPr lang="en-GB" sz="1300">
                  <a:latin typeface="Calibri"/>
                  <a:ea typeface="Calibri"/>
                  <a:cs typeface="Calibri"/>
                  <a:sym typeface="Calibri"/>
                </a:rPr>
                <a:t>Finns det tecken på att längre leveranstid hänger ihop med fler returer?</a:t>
              </a:r>
              <a:endParaRPr sz="1300">
                <a:latin typeface="Calibri"/>
                <a:ea typeface="Calibri"/>
                <a:cs typeface="Calibri"/>
                <a:sym typeface="Calibri"/>
              </a:endParaRPr>
            </a:p>
            <a:p>
              <a:pPr indent="-311150" lvl="0" marL="457200" rtl="0" algn="l">
                <a:lnSpc>
                  <a:spcPct val="115000"/>
                </a:lnSpc>
                <a:spcBef>
                  <a:spcPts val="0"/>
                </a:spcBef>
                <a:spcAft>
                  <a:spcPts val="0"/>
                </a:spcAft>
                <a:buSzPts val="1300"/>
                <a:buFont typeface="Calibri"/>
                <a:buAutoNum type="arabicPeriod"/>
              </a:pPr>
              <a:r>
                <a:rPr lang="en-GB" sz="1300">
                  <a:latin typeface="Calibri"/>
                  <a:ea typeface="Calibri"/>
                  <a:cs typeface="Calibri"/>
                  <a:sym typeface="Calibri"/>
                </a:rPr>
                <a:t>Hur skiljer sig kundtyper bland olika kundsegment?</a:t>
              </a:r>
              <a:endParaRPr sz="1800">
                <a:latin typeface="Roboto"/>
                <a:ea typeface="Roboto"/>
                <a:cs typeface="Roboto"/>
                <a:sym typeface="Robot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g3d697e89592_0_2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Play"/>
              <a:buNone/>
            </a:pPr>
            <a:r>
              <a:rPr lang="en-GB"/>
              <a:t>4. Datastädning och förberedelse</a:t>
            </a:r>
            <a:endParaRPr/>
          </a:p>
        </p:txBody>
      </p:sp>
      <p:sp>
        <p:nvSpPr>
          <p:cNvPr id="95" name="Google Shape;95;g3d697e89592_0_25"/>
          <p:cNvSpPr txBox="1"/>
          <p:nvPr>
            <p:ph idx="1" type="body"/>
          </p:nvPr>
        </p:nvSpPr>
        <p:spPr>
          <a:xfrm>
            <a:off x="838200" y="1516150"/>
            <a:ext cx="10515600" cy="4995000"/>
          </a:xfrm>
          <a:prstGeom prst="rect">
            <a:avLst/>
          </a:prstGeom>
        </p:spPr>
        <p:txBody>
          <a:bodyPr anchorCtr="0" anchor="t" bIns="45700" lIns="91425" spcFirstLastPara="1" rIns="91425" wrap="square" tIns="45700">
            <a:normAutofit lnSpcReduction="10000"/>
          </a:bodyPr>
          <a:lstStyle/>
          <a:p>
            <a:pPr indent="0" lvl="0" marL="0" rtl="0" algn="l">
              <a:spcBef>
                <a:spcPts val="0"/>
              </a:spcBef>
              <a:spcAft>
                <a:spcPts val="0"/>
              </a:spcAft>
              <a:buNone/>
            </a:pPr>
            <a:r>
              <a:rPr b="1" lang="en-GB" sz="2855"/>
              <a:t> </a:t>
            </a:r>
            <a:endParaRPr b="1" sz="2855"/>
          </a:p>
          <a:p>
            <a:pPr indent="0" lvl="0" marL="0" rtl="0" algn="l">
              <a:spcBef>
                <a:spcPts val="1600"/>
              </a:spcBef>
              <a:spcAft>
                <a:spcPts val="0"/>
              </a:spcAft>
              <a:buNone/>
            </a:pPr>
            <a:r>
              <a:rPr b="1" lang="en-GB" sz="2855"/>
              <a:t> </a:t>
            </a:r>
            <a:r>
              <a:rPr b="1" lang="en-GB" sz="2855"/>
              <a:t>Standardisering av textdata: </a:t>
            </a:r>
            <a:endParaRPr b="1" sz="2855"/>
          </a:p>
          <a:p>
            <a:pPr indent="-397166" lvl="0" marL="457200" rtl="0" algn="l">
              <a:spcBef>
                <a:spcPts val="1600"/>
              </a:spcBef>
              <a:spcAft>
                <a:spcPts val="0"/>
              </a:spcAft>
              <a:buSzPts val="2655"/>
              <a:buChar char="●"/>
            </a:pPr>
            <a:r>
              <a:rPr lang="en-GB" sz="2451"/>
              <a:t>str_trim() → tar bort extra mellanslag</a:t>
            </a:r>
            <a:endParaRPr sz="2451"/>
          </a:p>
          <a:p>
            <a:pPr indent="-384266" lvl="0" marL="457200" rtl="0" algn="l">
              <a:spcBef>
                <a:spcPts val="0"/>
              </a:spcBef>
              <a:spcAft>
                <a:spcPts val="0"/>
              </a:spcAft>
              <a:buSzPts val="2451"/>
              <a:buChar char="●"/>
            </a:pPr>
            <a:r>
              <a:rPr lang="en-GB" sz="2451"/>
              <a:t>Korrigering av stadsnamn: Malmo → Malmö</a:t>
            </a:r>
            <a:endParaRPr sz="2451"/>
          </a:p>
          <a:p>
            <a:pPr indent="0" lvl="0" marL="0" rtl="0" algn="l">
              <a:spcBef>
                <a:spcPts val="1600"/>
              </a:spcBef>
              <a:spcAft>
                <a:spcPts val="0"/>
              </a:spcAft>
              <a:buNone/>
            </a:pPr>
            <a:r>
              <a:t/>
            </a:r>
            <a:endParaRPr sz="2451"/>
          </a:p>
          <a:p>
            <a:pPr indent="-50800" lvl="0" marL="228600" rtl="0" algn="l">
              <a:spcBef>
                <a:spcPts val="1600"/>
              </a:spcBef>
              <a:spcAft>
                <a:spcPts val="0"/>
              </a:spcAft>
              <a:buNone/>
            </a:pPr>
            <a:r>
              <a:rPr b="1" lang="en-GB" sz="2855"/>
              <a:t>Omvanding av variabler: </a:t>
            </a:r>
            <a:endParaRPr b="1" sz="2855"/>
          </a:p>
          <a:p>
            <a:pPr indent="-383386" lvl="0" marL="457200" rtl="0" algn="l">
              <a:spcBef>
                <a:spcPts val="1600"/>
              </a:spcBef>
              <a:spcAft>
                <a:spcPts val="0"/>
              </a:spcAft>
              <a:buSzPts val="2438"/>
              <a:buChar char="●"/>
            </a:pPr>
            <a:r>
              <a:rPr lang="en-GB" sz="2438"/>
              <a:t>Returned → TRUE/FALSE</a:t>
            </a:r>
            <a:endParaRPr sz="2438"/>
          </a:p>
          <a:p>
            <a:pPr indent="-383386" lvl="0" marL="457200" rtl="0" algn="l">
              <a:spcBef>
                <a:spcPts val="0"/>
              </a:spcBef>
              <a:spcAft>
                <a:spcPts val="0"/>
              </a:spcAft>
              <a:buSzPts val="2438"/>
              <a:buChar char="●"/>
            </a:pPr>
            <a:r>
              <a:rPr lang="en-GB" sz="2438"/>
              <a:t>Order_date → datumformat</a:t>
            </a:r>
            <a:endParaRPr sz="2438"/>
          </a:p>
          <a:p>
            <a:pPr indent="-383386" lvl="0" marL="457200" rtl="0" algn="l">
              <a:spcBef>
                <a:spcPts val="0"/>
              </a:spcBef>
              <a:spcAft>
                <a:spcPts val="0"/>
              </a:spcAft>
              <a:buSzPts val="2438"/>
              <a:buChar char="●"/>
            </a:pPr>
            <a:r>
              <a:rPr lang="en-GB" sz="2438"/>
              <a:t>Numeriska variabler:</a:t>
            </a:r>
            <a:endParaRPr sz="2438"/>
          </a:p>
          <a:p>
            <a:pPr indent="0" lvl="0" marL="457200" rtl="0" algn="l">
              <a:spcBef>
                <a:spcPts val="1600"/>
              </a:spcBef>
              <a:spcAft>
                <a:spcPts val="0"/>
              </a:spcAft>
              <a:buNone/>
            </a:pPr>
            <a:r>
              <a:rPr lang="en-GB" sz="2438"/>
              <a:t>   discount_pct</a:t>
            </a:r>
            <a:endParaRPr sz="2438"/>
          </a:p>
          <a:p>
            <a:pPr indent="0" lvl="0" marL="457200" rtl="0" algn="l">
              <a:spcBef>
                <a:spcPts val="1600"/>
              </a:spcBef>
              <a:spcAft>
                <a:spcPts val="1600"/>
              </a:spcAft>
              <a:buNone/>
            </a:pPr>
            <a:r>
              <a:rPr lang="en-GB" sz="2438"/>
              <a:t>   shipping_days</a:t>
            </a:r>
            <a:endParaRPr sz="2255"/>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3d697e89592_0_1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Play"/>
              <a:buNone/>
            </a:pPr>
            <a:r>
              <a:rPr lang="en-GB"/>
              <a:t>4. </a:t>
            </a:r>
            <a:r>
              <a:rPr lang="en-GB"/>
              <a:t>Datastädning och förberedelse</a:t>
            </a:r>
            <a:endParaRPr/>
          </a:p>
        </p:txBody>
      </p:sp>
      <p:sp>
        <p:nvSpPr>
          <p:cNvPr id="102" name="Google Shape;102;g3d697e89592_0_10"/>
          <p:cNvSpPr txBox="1"/>
          <p:nvPr>
            <p:ph idx="1" type="body"/>
          </p:nvPr>
        </p:nvSpPr>
        <p:spPr>
          <a:xfrm>
            <a:off x="838200" y="1690825"/>
            <a:ext cx="10515600" cy="48684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b="1" lang="en-GB"/>
              <a:t>Hantering av missing values: </a:t>
            </a:r>
            <a:endParaRPr b="1"/>
          </a:p>
          <a:p>
            <a:pPr indent="-317500" lvl="0" marL="457200" rtl="0" algn="l">
              <a:spcBef>
                <a:spcPts val="1600"/>
              </a:spcBef>
              <a:spcAft>
                <a:spcPts val="0"/>
              </a:spcAft>
              <a:buSzPts val="1400"/>
              <a:buChar char="●"/>
            </a:pPr>
            <a:r>
              <a:rPr lang="en-GB" sz="2400"/>
              <a:t>Rabatt → ersätts med 0</a:t>
            </a:r>
            <a:endParaRPr sz="2400"/>
          </a:p>
          <a:p>
            <a:pPr indent="-317500" lvl="0" marL="457200" rtl="0" algn="l">
              <a:spcBef>
                <a:spcPts val="0"/>
              </a:spcBef>
              <a:spcAft>
                <a:spcPts val="0"/>
              </a:spcAft>
              <a:buSzPts val="1400"/>
              <a:buChar char="●"/>
            </a:pPr>
            <a:r>
              <a:rPr lang="en-GB" sz="2400"/>
              <a:t>City → “Okänd”</a:t>
            </a:r>
            <a:endParaRPr sz="2400"/>
          </a:p>
          <a:p>
            <a:pPr indent="-317500" lvl="0" marL="457200" rtl="0" algn="l">
              <a:spcBef>
                <a:spcPts val="0"/>
              </a:spcBef>
              <a:spcAft>
                <a:spcPts val="0"/>
              </a:spcAft>
              <a:buSzPts val="1400"/>
              <a:buChar char="●"/>
            </a:pPr>
            <a:r>
              <a:rPr lang="en-GB" sz="2400"/>
              <a:t>Shipping days → median</a:t>
            </a:r>
            <a:endParaRPr sz="2400"/>
          </a:p>
          <a:p>
            <a:pPr indent="0" lvl="0" marL="457200" rtl="0" algn="l">
              <a:spcBef>
                <a:spcPts val="1600"/>
              </a:spcBef>
              <a:spcAft>
                <a:spcPts val="0"/>
              </a:spcAft>
              <a:buNone/>
            </a:pPr>
            <a:r>
              <a:t/>
            </a:r>
            <a:endParaRPr sz="2400"/>
          </a:p>
          <a:p>
            <a:pPr indent="0" lvl="0" marL="0" rtl="0" algn="l">
              <a:spcBef>
                <a:spcPts val="1600"/>
              </a:spcBef>
              <a:spcAft>
                <a:spcPts val="0"/>
              </a:spcAft>
              <a:buNone/>
            </a:pPr>
            <a:r>
              <a:rPr b="1" lang="en-GB"/>
              <a:t>Nya variabler skapas:</a:t>
            </a:r>
            <a:r>
              <a:rPr lang="en-GB"/>
              <a:t> </a:t>
            </a:r>
            <a:endParaRPr/>
          </a:p>
          <a:p>
            <a:pPr indent="-317500" lvl="0" marL="457200" rtl="0" algn="l">
              <a:spcBef>
                <a:spcPts val="1600"/>
              </a:spcBef>
              <a:spcAft>
                <a:spcPts val="0"/>
              </a:spcAft>
              <a:buSzPts val="1400"/>
              <a:buChar char="●"/>
            </a:pPr>
            <a:r>
              <a:rPr lang="en-GB" sz="2400"/>
              <a:t>Order_value  = quantity * unit_price * (1 - discount_pct)</a:t>
            </a:r>
            <a:endParaRPr sz="2400"/>
          </a:p>
          <a:p>
            <a:pPr indent="-317500" lvl="0" marL="457200" rtl="0" algn="l">
              <a:spcBef>
                <a:spcPts val="0"/>
              </a:spcBef>
              <a:spcAft>
                <a:spcPts val="0"/>
              </a:spcAft>
              <a:buSzPts val="1400"/>
              <a:buChar char="●"/>
            </a:pPr>
            <a:r>
              <a:rPr lang="en-GB" sz="2400"/>
              <a:t>shipping_group </a:t>
            </a:r>
            <a:r>
              <a:rPr lang="en-GB" sz="2400"/>
              <a:t>= </a:t>
            </a:r>
            <a:r>
              <a:rPr lang="en-GB" sz="2400"/>
              <a:t>Snabb / Medel / Lång</a:t>
            </a:r>
            <a:endParaRPr sz="2400"/>
          </a:p>
          <a:p>
            <a:pPr indent="0" lvl="0" marL="0" rtl="0" algn="l">
              <a:spcBef>
                <a:spcPts val="1600"/>
              </a:spcBef>
              <a:spcAft>
                <a:spcPts val="1600"/>
              </a:spcAft>
              <a:buNone/>
            </a:pPr>
            <a:r>
              <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GB"/>
              <a:t>5. Viktiga resultat från analysen</a:t>
            </a:r>
            <a:endParaRPr/>
          </a:p>
        </p:txBody>
      </p:sp>
      <p:sp>
        <p:nvSpPr>
          <p:cNvPr id="108" name="Google Shape;108;p6"/>
          <p:cNvSpPr txBox="1"/>
          <p:nvPr/>
        </p:nvSpPr>
        <p:spPr>
          <a:xfrm>
            <a:off x="1039900" y="1631575"/>
            <a:ext cx="9314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800">
              <a:solidFill>
                <a:schemeClr val="dk1"/>
              </a:solidFill>
            </a:endParaRPr>
          </a:p>
        </p:txBody>
      </p:sp>
      <p:sp>
        <p:nvSpPr>
          <p:cNvPr id="109" name="Google Shape;109;p6"/>
          <p:cNvSpPr txBox="1"/>
          <p:nvPr>
            <p:ph type="title"/>
          </p:nvPr>
        </p:nvSpPr>
        <p:spPr>
          <a:xfrm>
            <a:off x="793375" y="1440929"/>
            <a:ext cx="10515600" cy="5076600"/>
          </a:xfrm>
          <a:prstGeom prst="rect">
            <a:avLst/>
          </a:prstGeom>
          <a:noFill/>
          <a:ln>
            <a:noFill/>
          </a:ln>
        </p:spPr>
        <p:txBody>
          <a:bodyPr anchorCtr="0" anchor="t" bIns="45700" lIns="91425" spcFirstLastPara="1" rIns="91425" wrap="square" tIns="45700">
            <a:normAutofit fontScale="90000"/>
          </a:bodyPr>
          <a:lstStyle/>
          <a:p>
            <a:pPr indent="0" lvl="0" marL="0" marR="0" rtl="0" algn="l">
              <a:lnSpc>
                <a:spcPct val="90000"/>
              </a:lnSpc>
              <a:spcBef>
                <a:spcPts val="1000"/>
              </a:spcBef>
              <a:spcAft>
                <a:spcPts val="0"/>
              </a:spcAft>
              <a:buNone/>
            </a:pPr>
            <a:r>
              <a:rPr b="1" lang="en-GB" sz="2622">
                <a:solidFill>
                  <a:schemeClr val="dk2"/>
                </a:solidFill>
                <a:latin typeface="Proxima Nova"/>
                <a:ea typeface="Proxima Nova"/>
                <a:cs typeface="Proxima Nova"/>
                <a:sym typeface="Proxima Nova"/>
              </a:rPr>
              <a:t>Påverkar leveranstid om en beställning returneras?</a:t>
            </a:r>
            <a:endParaRPr b="1" sz="2622">
              <a:solidFill>
                <a:schemeClr val="dk2"/>
              </a:solidFill>
              <a:latin typeface="Proxima Nova"/>
              <a:ea typeface="Proxima Nova"/>
              <a:cs typeface="Proxima Nova"/>
              <a:sym typeface="Proxima Nova"/>
            </a:endParaRPr>
          </a:p>
          <a:p>
            <a:pPr indent="0" lvl="0" marL="0" marR="0" rtl="0" algn="l">
              <a:lnSpc>
                <a:spcPct val="90000"/>
              </a:lnSpc>
              <a:spcBef>
                <a:spcPts val="1600"/>
              </a:spcBef>
              <a:spcAft>
                <a:spcPts val="0"/>
              </a:spcAft>
              <a:buNone/>
            </a:pPr>
            <a:r>
              <a:t/>
            </a:r>
            <a:endParaRPr b="1" sz="2400">
              <a:solidFill>
                <a:schemeClr val="dk2"/>
              </a:solidFill>
              <a:latin typeface="Proxima Nova"/>
              <a:ea typeface="Proxima Nova"/>
              <a:cs typeface="Proxima Nova"/>
              <a:sym typeface="Proxima Nova"/>
            </a:endParaRPr>
          </a:p>
          <a:p>
            <a:pPr indent="0" lvl="0" marL="0" marR="0" rtl="0" algn="l">
              <a:lnSpc>
                <a:spcPct val="90000"/>
              </a:lnSpc>
              <a:spcBef>
                <a:spcPts val="1600"/>
              </a:spcBef>
              <a:spcAft>
                <a:spcPts val="0"/>
              </a:spcAft>
              <a:buNone/>
            </a:pPr>
            <a:r>
              <a:rPr b="1" lang="en-GB" sz="2400">
                <a:solidFill>
                  <a:schemeClr val="dk2"/>
                </a:solidFill>
                <a:latin typeface="Proxima Nova"/>
                <a:ea typeface="Proxima Nova"/>
                <a:cs typeface="Proxima Nova"/>
                <a:sym typeface="Proxima Nova"/>
              </a:rPr>
              <a:t>Resultat (t-test)</a:t>
            </a:r>
            <a:endParaRPr b="1" sz="2400">
              <a:solidFill>
                <a:schemeClr val="dk2"/>
              </a:solidFill>
              <a:latin typeface="Proxima Nova"/>
              <a:ea typeface="Proxima Nova"/>
              <a:cs typeface="Proxima Nova"/>
              <a:sym typeface="Proxima Nova"/>
            </a:endParaRPr>
          </a:p>
          <a:p>
            <a:pPr indent="-365760" lvl="0" marL="457200" marR="0" rtl="0" algn="l">
              <a:lnSpc>
                <a:spcPct val="90000"/>
              </a:lnSpc>
              <a:spcBef>
                <a:spcPts val="1600"/>
              </a:spcBef>
              <a:spcAft>
                <a:spcPts val="0"/>
              </a:spcAft>
              <a:buClr>
                <a:schemeClr val="dk2"/>
              </a:buClr>
              <a:buSzPct val="100000"/>
              <a:buFont typeface="Proxima Nova"/>
              <a:buChar char="●"/>
            </a:pPr>
            <a:r>
              <a:rPr lang="en-GB" sz="2400">
                <a:solidFill>
                  <a:schemeClr val="dk2"/>
                </a:solidFill>
                <a:latin typeface="Proxima Nova"/>
                <a:ea typeface="Proxima Nova"/>
                <a:cs typeface="Proxima Nova"/>
                <a:sym typeface="Proxima Nova"/>
              </a:rPr>
              <a:t>Signifikant skillnad (p&lt;0.05)</a:t>
            </a:r>
            <a:endParaRPr sz="2400">
              <a:solidFill>
                <a:schemeClr val="dk2"/>
              </a:solidFill>
              <a:latin typeface="Proxima Nova"/>
              <a:ea typeface="Proxima Nova"/>
              <a:cs typeface="Proxima Nova"/>
              <a:sym typeface="Proxima Nova"/>
            </a:endParaRPr>
          </a:p>
          <a:p>
            <a:pPr indent="-365760" lvl="0" marL="457200" marR="0" rtl="0" algn="l">
              <a:lnSpc>
                <a:spcPct val="90000"/>
              </a:lnSpc>
              <a:spcBef>
                <a:spcPts val="0"/>
              </a:spcBef>
              <a:spcAft>
                <a:spcPts val="0"/>
              </a:spcAft>
              <a:buClr>
                <a:schemeClr val="dk2"/>
              </a:buClr>
              <a:buSzPct val="100000"/>
              <a:buFont typeface="Proxima Nova"/>
              <a:buChar char="●"/>
            </a:pPr>
            <a:r>
              <a:rPr lang="en-GB" sz="2400">
                <a:solidFill>
                  <a:schemeClr val="dk2"/>
                </a:solidFill>
                <a:latin typeface="Proxima Nova"/>
                <a:ea typeface="Proxima Nova"/>
                <a:cs typeface="Proxima Nova"/>
                <a:sym typeface="Proxima Nova"/>
              </a:rPr>
              <a:t>Konfidensintervall: (-0.7 och -0.15) ⇒ Innehåller inte 0</a:t>
            </a:r>
            <a:endParaRPr sz="2400">
              <a:solidFill>
                <a:schemeClr val="dk2"/>
              </a:solidFill>
              <a:latin typeface="Proxima Nova"/>
              <a:ea typeface="Proxima Nova"/>
              <a:cs typeface="Proxima Nova"/>
              <a:sym typeface="Proxima Nova"/>
            </a:endParaRPr>
          </a:p>
          <a:p>
            <a:pPr indent="0" lvl="0" marL="0" marR="0" rtl="0" algn="l">
              <a:lnSpc>
                <a:spcPct val="90000"/>
              </a:lnSpc>
              <a:spcBef>
                <a:spcPts val="1600"/>
              </a:spcBef>
              <a:spcAft>
                <a:spcPts val="0"/>
              </a:spcAft>
              <a:buNone/>
            </a:pPr>
            <a:r>
              <a:rPr b="1" lang="en-GB" sz="2400">
                <a:solidFill>
                  <a:schemeClr val="dk2"/>
                </a:solidFill>
                <a:latin typeface="Proxima Nova"/>
                <a:ea typeface="Proxima Nova"/>
                <a:cs typeface="Proxima Nova"/>
                <a:sym typeface="Proxima Nova"/>
              </a:rPr>
              <a:t>Tolkning</a:t>
            </a:r>
            <a:endParaRPr b="1" sz="2400">
              <a:solidFill>
                <a:schemeClr val="dk2"/>
              </a:solidFill>
              <a:latin typeface="Proxima Nova"/>
              <a:ea typeface="Proxima Nova"/>
              <a:cs typeface="Proxima Nova"/>
              <a:sym typeface="Proxima Nova"/>
            </a:endParaRPr>
          </a:p>
          <a:p>
            <a:pPr indent="-365760" lvl="0" marL="457200" marR="0" rtl="0" algn="l">
              <a:lnSpc>
                <a:spcPct val="90000"/>
              </a:lnSpc>
              <a:spcBef>
                <a:spcPts val="1600"/>
              </a:spcBef>
              <a:spcAft>
                <a:spcPts val="0"/>
              </a:spcAft>
              <a:buClr>
                <a:schemeClr val="dk2"/>
              </a:buClr>
              <a:buSzPct val="100000"/>
              <a:buFont typeface="Proxima Nova"/>
              <a:buChar char="●"/>
            </a:pPr>
            <a:r>
              <a:rPr lang="en-GB" sz="2400">
                <a:solidFill>
                  <a:schemeClr val="dk2"/>
                </a:solidFill>
                <a:latin typeface="Proxima Nova"/>
                <a:ea typeface="Proxima Nova"/>
                <a:cs typeface="Proxima Nova"/>
                <a:sym typeface="Proxima Nova"/>
              </a:rPr>
              <a:t>Icke-returnerade beställningar → kortare leveranstid</a:t>
            </a:r>
            <a:endParaRPr sz="2400">
              <a:solidFill>
                <a:schemeClr val="dk2"/>
              </a:solidFill>
              <a:latin typeface="Proxima Nova"/>
              <a:ea typeface="Proxima Nova"/>
              <a:cs typeface="Proxima Nova"/>
              <a:sym typeface="Proxima Nova"/>
            </a:endParaRPr>
          </a:p>
          <a:p>
            <a:pPr indent="-365760" lvl="0" marL="457200" marR="0" rtl="0" algn="l">
              <a:lnSpc>
                <a:spcPct val="90000"/>
              </a:lnSpc>
              <a:spcBef>
                <a:spcPts val="0"/>
              </a:spcBef>
              <a:spcAft>
                <a:spcPts val="0"/>
              </a:spcAft>
              <a:buClr>
                <a:schemeClr val="dk2"/>
              </a:buClr>
              <a:buSzPct val="100000"/>
              <a:buFont typeface="Proxima Nova"/>
              <a:buChar char="●"/>
            </a:pPr>
            <a:r>
              <a:rPr lang="en-GB" sz="2400">
                <a:solidFill>
                  <a:schemeClr val="dk2"/>
                </a:solidFill>
                <a:latin typeface="Proxima Nova"/>
                <a:ea typeface="Proxima Nova"/>
                <a:cs typeface="Proxima Nova"/>
                <a:sym typeface="Proxima Nova"/>
              </a:rPr>
              <a:t>Returnerade beställningar → längre leveranstid</a:t>
            </a:r>
            <a:endParaRPr sz="2400">
              <a:solidFill>
                <a:schemeClr val="dk2"/>
              </a:solidFill>
              <a:latin typeface="Proxima Nova"/>
              <a:ea typeface="Proxima Nova"/>
              <a:cs typeface="Proxima Nova"/>
              <a:sym typeface="Proxima Nova"/>
            </a:endParaRPr>
          </a:p>
          <a:p>
            <a:pPr indent="0" lvl="0" marL="0" marR="0" rtl="0" algn="l">
              <a:lnSpc>
                <a:spcPct val="90000"/>
              </a:lnSpc>
              <a:spcBef>
                <a:spcPts val="1600"/>
              </a:spcBef>
              <a:spcAft>
                <a:spcPts val="0"/>
              </a:spcAft>
              <a:buNone/>
            </a:pPr>
            <a:r>
              <a:rPr b="1" lang="en-GB" sz="2400">
                <a:solidFill>
                  <a:schemeClr val="dk2"/>
                </a:solidFill>
                <a:latin typeface="Proxima Nova"/>
                <a:ea typeface="Proxima Nova"/>
                <a:cs typeface="Proxima Nova"/>
                <a:sym typeface="Proxima Nova"/>
              </a:rPr>
              <a:t>Slutsats</a:t>
            </a:r>
            <a:endParaRPr b="1" sz="2400">
              <a:solidFill>
                <a:schemeClr val="dk2"/>
              </a:solidFill>
              <a:latin typeface="Proxima Nova"/>
              <a:ea typeface="Proxima Nova"/>
              <a:cs typeface="Proxima Nova"/>
              <a:sym typeface="Proxima Nova"/>
            </a:endParaRPr>
          </a:p>
          <a:p>
            <a:pPr indent="0" lvl="0" marL="0" marR="0" rtl="0" algn="l">
              <a:lnSpc>
                <a:spcPct val="90000"/>
              </a:lnSpc>
              <a:spcBef>
                <a:spcPts val="1600"/>
              </a:spcBef>
              <a:spcAft>
                <a:spcPts val="0"/>
              </a:spcAft>
              <a:buNone/>
            </a:pPr>
            <a:r>
              <a:rPr lang="en-GB" sz="2400">
                <a:solidFill>
                  <a:schemeClr val="dk2"/>
                </a:solidFill>
                <a:latin typeface="Proxima Nova"/>
                <a:ea typeface="Proxima Nova"/>
                <a:cs typeface="Proxima Nova"/>
                <a:sym typeface="Proxima Nova"/>
              </a:rPr>
              <a:t>Längre leveranstid ökar sannolikheten för returer</a:t>
            </a:r>
            <a:endParaRPr sz="2600"/>
          </a:p>
          <a:p>
            <a:pPr indent="0" lvl="0" marL="0" rtl="0" algn="l">
              <a:lnSpc>
                <a:spcPct val="90000"/>
              </a:lnSpc>
              <a:spcBef>
                <a:spcPts val="1600"/>
              </a:spcBef>
              <a:spcAft>
                <a:spcPts val="0"/>
              </a:spcAft>
              <a:buClr>
                <a:schemeClr val="dk1"/>
              </a:buClr>
              <a:buSzPct val="169231"/>
              <a:buFont typeface="Play"/>
              <a:buNone/>
            </a:pPr>
            <a:r>
              <a:t/>
            </a:r>
            <a:endParaRPr sz="2600"/>
          </a:p>
          <a:p>
            <a:pPr indent="0" lvl="0" marL="0" rtl="0" algn="l">
              <a:lnSpc>
                <a:spcPct val="90000"/>
              </a:lnSpc>
              <a:spcBef>
                <a:spcPts val="0"/>
              </a:spcBef>
              <a:spcAft>
                <a:spcPts val="0"/>
              </a:spcAft>
              <a:buClr>
                <a:schemeClr val="dk1"/>
              </a:buClr>
              <a:buSzPct val="169231"/>
              <a:buFont typeface="Play"/>
              <a:buNone/>
            </a:pPr>
            <a:r>
              <a:t/>
            </a:r>
            <a:endParaRPr sz="2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7"/>
          <p:cNvSpPr txBox="1"/>
          <p:nvPr>
            <p:ph type="title"/>
          </p:nvPr>
        </p:nvSpPr>
        <p:spPr>
          <a:xfrm>
            <a:off x="856475" y="70975"/>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lang="en-GB"/>
              <a:t>6. Visualiseringar med kort tolkning</a:t>
            </a:r>
            <a:endParaRPr/>
          </a:p>
        </p:txBody>
      </p:sp>
      <p:sp>
        <p:nvSpPr>
          <p:cNvPr id="115" name="Google Shape;115;p7"/>
          <p:cNvSpPr txBox="1"/>
          <p:nvPr>
            <p:ph idx="1" type="body"/>
          </p:nvPr>
        </p:nvSpPr>
        <p:spPr>
          <a:xfrm>
            <a:off x="173375" y="3675675"/>
            <a:ext cx="5867400" cy="3359700"/>
          </a:xfrm>
          <a:prstGeom prst="rect">
            <a:avLst/>
          </a:prstGeom>
          <a:noFill/>
          <a:ln>
            <a:noFill/>
          </a:ln>
        </p:spPr>
        <p:txBody>
          <a:bodyPr anchorCtr="0" anchor="t" bIns="45700" lIns="91425" spcFirstLastPara="1" rIns="91425" wrap="square" tIns="45700">
            <a:normAutofit fontScale="70000" lnSpcReduction="10000"/>
          </a:bodyPr>
          <a:lstStyle/>
          <a:p>
            <a:pPr indent="0" lvl="0" marL="0" rtl="0" algn="l">
              <a:lnSpc>
                <a:spcPct val="115000"/>
              </a:lnSpc>
              <a:spcBef>
                <a:spcPts val="1400"/>
              </a:spcBef>
              <a:spcAft>
                <a:spcPts val="0"/>
              </a:spcAft>
              <a:buClr>
                <a:schemeClr val="dk1"/>
              </a:buClr>
              <a:buSzPct val="48889"/>
              <a:buFont typeface="Arial"/>
              <a:buNone/>
            </a:pPr>
            <a:r>
              <a:rPr b="1" lang="en-GB" sz="2250"/>
              <a:t> Försäljning &amp; produktkategorier</a:t>
            </a:r>
            <a:endParaRPr b="1" sz="2250"/>
          </a:p>
          <a:p>
            <a:pPr indent="-328613" lvl="0" marL="457200" rtl="0" algn="l">
              <a:lnSpc>
                <a:spcPct val="115000"/>
              </a:lnSpc>
              <a:spcBef>
                <a:spcPts val="1200"/>
              </a:spcBef>
              <a:spcAft>
                <a:spcPts val="0"/>
              </a:spcAft>
              <a:buSzPct val="100000"/>
              <a:buChar char="●"/>
            </a:pPr>
            <a:r>
              <a:rPr lang="en-GB" sz="2250"/>
              <a:t>Electronics står för </a:t>
            </a:r>
            <a:r>
              <a:rPr b="1" lang="en-GB" sz="2250"/>
              <a:t>störst andel av total försäljning</a:t>
            </a:r>
            <a:endParaRPr sz="2250"/>
          </a:p>
          <a:p>
            <a:pPr indent="-328613" lvl="0" marL="457200" rtl="0" algn="l">
              <a:lnSpc>
                <a:spcPct val="115000"/>
              </a:lnSpc>
              <a:spcBef>
                <a:spcPts val="0"/>
              </a:spcBef>
              <a:spcAft>
                <a:spcPts val="0"/>
              </a:spcAft>
              <a:buSzPct val="100000"/>
              <a:buChar char="●"/>
            </a:pPr>
            <a:r>
              <a:rPr lang="en-GB" sz="2250"/>
              <a:t>Beauty och Fashion betydligt mindre, kan tyda på lägre efterfrågan och stor potential inom dessa</a:t>
            </a:r>
            <a:endParaRPr sz="2250"/>
          </a:p>
          <a:p>
            <a:pPr indent="0" lvl="0" marL="0" rtl="0" algn="l">
              <a:lnSpc>
                <a:spcPct val="115000"/>
              </a:lnSpc>
              <a:spcBef>
                <a:spcPts val="1400"/>
              </a:spcBef>
              <a:spcAft>
                <a:spcPts val="0"/>
              </a:spcAft>
              <a:buNone/>
            </a:pPr>
            <a:r>
              <a:rPr b="1" lang="en-GB" sz="2250"/>
              <a:t> Leveranstid &amp; returer</a:t>
            </a:r>
            <a:endParaRPr b="1" sz="2250"/>
          </a:p>
          <a:p>
            <a:pPr indent="-328613" lvl="0" marL="457200" rtl="0" algn="l">
              <a:lnSpc>
                <a:spcPct val="115000"/>
              </a:lnSpc>
              <a:spcBef>
                <a:spcPts val="1200"/>
              </a:spcBef>
              <a:spcAft>
                <a:spcPts val="0"/>
              </a:spcAft>
              <a:buSzPct val="100000"/>
              <a:buChar char="●"/>
            </a:pPr>
            <a:r>
              <a:rPr lang="en-GB" sz="2250"/>
              <a:t>Returnerade beställningar har </a:t>
            </a:r>
            <a:r>
              <a:rPr b="1" lang="en-GB" sz="2250"/>
              <a:t>något längre leveranstid</a:t>
            </a:r>
            <a:endParaRPr b="1" sz="2250"/>
          </a:p>
          <a:p>
            <a:pPr indent="-328613" lvl="0" marL="457200" rtl="0" algn="l">
              <a:lnSpc>
                <a:spcPct val="115000"/>
              </a:lnSpc>
              <a:spcBef>
                <a:spcPts val="0"/>
              </a:spcBef>
              <a:spcAft>
                <a:spcPts val="0"/>
              </a:spcAft>
              <a:buSzPct val="100000"/>
              <a:buChar char="●"/>
            </a:pPr>
            <a:r>
              <a:rPr lang="en-GB" sz="2250"/>
              <a:t>Skillnaden är liten men </a:t>
            </a:r>
            <a:r>
              <a:rPr b="1" lang="en-GB" sz="2250"/>
              <a:t>statistiskt signifikant</a:t>
            </a:r>
            <a:endParaRPr b="1" sz="2250"/>
          </a:p>
          <a:p>
            <a:pPr indent="-328613" lvl="0" marL="457200" rtl="0" algn="l">
              <a:lnSpc>
                <a:spcPct val="115000"/>
              </a:lnSpc>
              <a:spcBef>
                <a:spcPts val="0"/>
              </a:spcBef>
              <a:spcAft>
                <a:spcPts val="0"/>
              </a:spcAft>
              <a:buSzPct val="100000"/>
              <a:buChar char="●"/>
            </a:pPr>
            <a:r>
              <a:rPr lang="en-GB" sz="2250"/>
              <a:t>Tyder på att leveranstid kan påverka returer men skillnaden är </a:t>
            </a:r>
            <a:r>
              <a:rPr b="1" lang="en-GB" sz="2250"/>
              <a:t>inte jättestor visuellt</a:t>
            </a:r>
            <a:endParaRPr b="1" sz="2250"/>
          </a:p>
          <a:p>
            <a:pPr indent="-50800" lvl="0" marL="228600" rtl="0" algn="l">
              <a:lnSpc>
                <a:spcPct val="90000"/>
              </a:lnSpc>
              <a:spcBef>
                <a:spcPts val="1200"/>
              </a:spcBef>
              <a:spcAft>
                <a:spcPts val="1600"/>
              </a:spcAft>
              <a:buClr>
                <a:schemeClr val="dk1"/>
              </a:buClr>
              <a:buSzPct val="116667"/>
              <a:buNone/>
            </a:pPr>
            <a:r>
              <a:t/>
            </a:r>
            <a:endParaRPr/>
          </a:p>
        </p:txBody>
      </p:sp>
      <p:pic>
        <p:nvPicPr>
          <p:cNvPr id="116" name="Google Shape;116;p7"/>
          <p:cNvPicPr preferRelativeResize="0"/>
          <p:nvPr/>
        </p:nvPicPr>
        <p:blipFill>
          <a:blip r:embed="rId3">
            <a:alphaModFix/>
          </a:blip>
          <a:stretch>
            <a:fillRect/>
          </a:stretch>
        </p:blipFill>
        <p:spPr>
          <a:xfrm>
            <a:off x="173375" y="1475738"/>
            <a:ext cx="2736374" cy="2120876"/>
          </a:xfrm>
          <a:prstGeom prst="rect">
            <a:avLst/>
          </a:prstGeom>
          <a:noFill/>
          <a:ln>
            <a:noFill/>
          </a:ln>
        </p:spPr>
      </p:pic>
      <p:pic>
        <p:nvPicPr>
          <p:cNvPr id="117" name="Google Shape;117;p7"/>
          <p:cNvPicPr preferRelativeResize="0"/>
          <p:nvPr/>
        </p:nvPicPr>
        <p:blipFill>
          <a:blip r:embed="rId4">
            <a:alphaModFix/>
          </a:blip>
          <a:stretch>
            <a:fillRect/>
          </a:stretch>
        </p:blipFill>
        <p:spPr>
          <a:xfrm>
            <a:off x="2995775" y="1475737"/>
            <a:ext cx="2890776" cy="2120876"/>
          </a:xfrm>
          <a:prstGeom prst="rect">
            <a:avLst/>
          </a:prstGeom>
          <a:noFill/>
          <a:ln>
            <a:noFill/>
          </a:ln>
        </p:spPr>
      </p:pic>
      <p:pic>
        <p:nvPicPr>
          <p:cNvPr id="118" name="Google Shape;118;p7"/>
          <p:cNvPicPr preferRelativeResize="0"/>
          <p:nvPr/>
        </p:nvPicPr>
        <p:blipFill>
          <a:blip r:embed="rId5">
            <a:alphaModFix/>
          </a:blip>
          <a:stretch>
            <a:fillRect/>
          </a:stretch>
        </p:blipFill>
        <p:spPr>
          <a:xfrm>
            <a:off x="5962050" y="1444775"/>
            <a:ext cx="3028376" cy="2182800"/>
          </a:xfrm>
          <a:prstGeom prst="rect">
            <a:avLst/>
          </a:prstGeom>
          <a:noFill/>
          <a:ln>
            <a:noFill/>
          </a:ln>
        </p:spPr>
      </p:pic>
      <p:pic>
        <p:nvPicPr>
          <p:cNvPr id="119" name="Google Shape;119;p7"/>
          <p:cNvPicPr preferRelativeResize="0"/>
          <p:nvPr/>
        </p:nvPicPr>
        <p:blipFill>
          <a:blip r:embed="rId6">
            <a:alphaModFix/>
          </a:blip>
          <a:stretch>
            <a:fillRect/>
          </a:stretch>
        </p:blipFill>
        <p:spPr>
          <a:xfrm>
            <a:off x="9065925" y="1396675"/>
            <a:ext cx="2821275" cy="2120876"/>
          </a:xfrm>
          <a:prstGeom prst="rect">
            <a:avLst/>
          </a:prstGeom>
          <a:noFill/>
          <a:ln>
            <a:noFill/>
          </a:ln>
        </p:spPr>
      </p:pic>
      <p:sp>
        <p:nvSpPr>
          <p:cNvPr id="120" name="Google Shape;120;p7"/>
          <p:cNvSpPr txBox="1"/>
          <p:nvPr>
            <p:ph idx="1" type="body"/>
          </p:nvPr>
        </p:nvSpPr>
        <p:spPr>
          <a:xfrm>
            <a:off x="6208475" y="3675675"/>
            <a:ext cx="5867400" cy="3359700"/>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115000"/>
              </a:lnSpc>
              <a:spcBef>
                <a:spcPts val="1400"/>
              </a:spcBef>
              <a:spcAft>
                <a:spcPts val="0"/>
              </a:spcAft>
              <a:buNone/>
            </a:pPr>
            <a:r>
              <a:rPr b="1" lang="en-GB" sz="2745"/>
              <a:t> Kundsegment &amp; kundtyper</a:t>
            </a:r>
            <a:endParaRPr b="1" sz="2745"/>
          </a:p>
          <a:p>
            <a:pPr indent="-324458" lvl="0" marL="457200" rtl="0" algn="l">
              <a:lnSpc>
                <a:spcPct val="115000"/>
              </a:lnSpc>
              <a:spcBef>
                <a:spcPts val="1200"/>
              </a:spcBef>
              <a:spcAft>
                <a:spcPts val="0"/>
              </a:spcAft>
              <a:buSzPct val="100000"/>
              <a:buChar char="●"/>
            </a:pPr>
            <a:r>
              <a:rPr b="1" lang="en-GB" sz="2745"/>
              <a:t>Returning customers dominerar</a:t>
            </a:r>
            <a:r>
              <a:rPr lang="en-GB" sz="2745"/>
              <a:t> alla segment (återkommande kunder)</a:t>
            </a:r>
            <a:endParaRPr sz="2745"/>
          </a:p>
          <a:p>
            <a:pPr indent="-324458" lvl="0" marL="457200" rtl="0" algn="l">
              <a:lnSpc>
                <a:spcPct val="115000"/>
              </a:lnSpc>
              <a:spcBef>
                <a:spcPts val="0"/>
              </a:spcBef>
              <a:spcAft>
                <a:spcPts val="0"/>
              </a:spcAft>
              <a:buSzPct val="100000"/>
              <a:buChar char="●"/>
            </a:pPr>
            <a:r>
              <a:rPr lang="en-GB" sz="2745"/>
              <a:t>Consumer-segmentet har högst andel VIP-kunder / Small business saknar VIP nästan helt</a:t>
            </a:r>
            <a:endParaRPr sz="2745"/>
          </a:p>
          <a:p>
            <a:pPr indent="-324458" lvl="0" marL="457200" rtl="0" algn="l">
              <a:lnSpc>
                <a:spcPct val="115000"/>
              </a:lnSpc>
              <a:spcBef>
                <a:spcPts val="0"/>
              </a:spcBef>
              <a:spcAft>
                <a:spcPts val="0"/>
              </a:spcAft>
              <a:buSzPct val="100000"/>
              <a:buChar char="●"/>
            </a:pPr>
            <a:r>
              <a:rPr lang="en-GB" sz="2745"/>
              <a:t>Kundstruktur och beteenden varierar mellan segment</a:t>
            </a:r>
            <a:endParaRPr sz="2745"/>
          </a:p>
          <a:p>
            <a:pPr indent="0" lvl="0" marL="0" rtl="0" algn="l">
              <a:lnSpc>
                <a:spcPct val="115000"/>
              </a:lnSpc>
              <a:spcBef>
                <a:spcPts val="1400"/>
              </a:spcBef>
              <a:spcAft>
                <a:spcPts val="0"/>
              </a:spcAft>
              <a:buNone/>
            </a:pPr>
            <a:r>
              <a:rPr b="1" lang="en-GB" sz="2745"/>
              <a:t>Rabatt &amp; ordervärde</a:t>
            </a:r>
            <a:endParaRPr b="1" sz="2745"/>
          </a:p>
          <a:p>
            <a:pPr indent="-324458" lvl="0" marL="457200" rtl="0" algn="l">
              <a:lnSpc>
                <a:spcPct val="115000"/>
              </a:lnSpc>
              <a:spcBef>
                <a:spcPts val="1200"/>
              </a:spcBef>
              <a:spcAft>
                <a:spcPts val="0"/>
              </a:spcAft>
              <a:buSzPct val="100000"/>
              <a:buChar char="●"/>
            </a:pPr>
            <a:r>
              <a:rPr lang="en-GB" sz="2745"/>
              <a:t>Liknande median ordervärde oavsett rabatt</a:t>
            </a:r>
            <a:endParaRPr sz="2745"/>
          </a:p>
          <a:p>
            <a:pPr indent="-324458" lvl="0" marL="457200" rtl="0" algn="l">
              <a:lnSpc>
                <a:spcPct val="115000"/>
              </a:lnSpc>
              <a:spcBef>
                <a:spcPts val="0"/>
              </a:spcBef>
              <a:spcAft>
                <a:spcPts val="0"/>
              </a:spcAft>
              <a:buSzPct val="100000"/>
              <a:buChar char="●"/>
            </a:pPr>
            <a:r>
              <a:rPr lang="en-GB" sz="2745"/>
              <a:t>Stor spridning i båda grupper</a:t>
            </a:r>
            <a:endParaRPr sz="2745"/>
          </a:p>
          <a:p>
            <a:pPr indent="-324458" lvl="0" marL="457200" rtl="0" algn="l">
              <a:lnSpc>
                <a:spcPct val="115000"/>
              </a:lnSpc>
              <a:spcBef>
                <a:spcPts val="0"/>
              </a:spcBef>
              <a:spcAft>
                <a:spcPts val="0"/>
              </a:spcAft>
              <a:buSzPct val="100000"/>
              <a:buChar char="●"/>
            </a:pPr>
            <a:r>
              <a:rPr lang="en-GB" sz="2745"/>
              <a:t>Rabatter verkar ha </a:t>
            </a:r>
            <a:r>
              <a:rPr b="1" lang="en-GB" sz="2745"/>
              <a:t>begränsad påverkan</a:t>
            </a:r>
            <a:endParaRPr b="1" sz="2745"/>
          </a:p>
          <a:p>
            <a:pPr indent="0" lvl="0" marL="457200" rtl="0" algn="l">
              <a:lnSpc>
                <a:spcPct val="115000"/>
              </a:lnSpc>
              <a:spcBef>
                <a:spcPts val="1200"/>
              </a:spcBef>
              <a:spcAft>
                <a:spcPts val="0"/>
              </a:spcAft>
              <a:buNone/>
            </a:pPr>
            <a:r>
              <a:t/>
            </a:r>
            <a:endParaRPr b="1" sz="1300"/>
          </a:p>
          <a:p>
            <a:pPr indent="-50800" lvl="0" marL="228600" rtl="0" algn="l">
              <a:lnSpc>
                <a:spcPct val="90000"/>
              </a:lnSpc>
              <a:spcBef>
                <a:spcPts val="1200"/>
              </a:spcBef>
              <a:spcAft>
                <a:spcPts val="1600"/>
              </a:spcAft>
              <a:buClr>
                <a:schemeClr val="dk1"/>
              </a:buClr>
              <a:buSzPct val="116667"/>
              <a:buNone/>
            </a:pPr>
            <a:r>
              <a:t/>
            </a:r>
            <a:endParaRPr/>
          </a:p>
        </p:txBody>
      </p:sp>
      <p:sp>
        <p:nvSpPr>
          <p:cNvPr id="121" name="Google Shape;121;p7"/>
          <p:cNvSpPr/>
          <p:nvPr/>
        </p:nvSpPr>
        <p:spPr>
          <a:xfrm>
            <a:off x="3390901" y="1188963"/>
            <a:ext cx="5410200" cy="18288"/>
          </a:xfrm>
          <a:custGeom>
            <a:rect b="b" l="l" r="r" t="t"/>
            <a:pathLst>
              <a:path extrusionOk="0" fill="none" h="18288" w="541020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extrusionOk="0" h="18288" w="541020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GB"/>
              <a:t>7. Slutsatser och rekommendationer</a:t>
            </a:r>
            <a:endParaRPr/>
          </a:p>
        </p:txBody>
      </p:sp>
      <p:sp>
        <p:nvSpPr>
          <p:cNvPr id="127" name="Google Shape;127;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400"/>
              </a:spcBef>
              <a:spcAft>
                <a:spcPts val="0"/>
              </a:spcAft>
              <a:buClr>
                <a:schemeClr val="dk1"/>
              </a:buClr>
              <a:buSzPts val="1100"/>
              <a:buFont typeface="Arial"/>
              <a:buNone/>
            </a:pPr>
            <a:r>
              <a:rPr b="1" lang="en-GB" sz="2250"/>
              <a:t>Slutsatser</a:t>
            </a:r>
            <a:endParaRPr b="1" sz="2250"/>
          </a:p>
          <a:p>
            <a:pPr indent="-371475" lvl="0" marL="457200" rtl="0" algn="l">
              <a:lnSpc>
                <a:spcPct val="115000"/>
              </a:lnSpc>
              <a:spcBef>
                <a:spcPts val="1200"/>
              </a:spcBef>
              <a:spcAft>
                <a:spcPts val="0"/>
              </a:spcAft>
              <a:buSzPts val="2250"/>
              <a:buChar char="●"/>
            </a:pPr>
            <a:r>
              <a:rPr lang="en-GB" sz="2250"/>
              <a:t>Electronics driver försäljning</a:t>
            </a:r>
            <a:endParaRPr sz="2250"/>
          </a:p>
          <a:p>
            <a:pPr indent="-371475" lvl="0" marL="457200" rtl="0" algn="l">
              <a:lnSpc>
                <a:spcPct val="115000"/>
              </a:lnSpc>
              <a:spcBef>
                <a:spcPts val="0"/>
              </a:spcBef>
              <a:spcAft>
                <a:spcPts val="0"/>
              </a:spcAft>
              <a:buSzPts val="2250"/>
              <a:buChar char="●"/>
            </a:pPr>
            <a:r>
              <a:rPr lang="en-GB" sz="2250"/>
              <a:t>Svagt samband mellan leveranstid &amp; returer</a:t>
            </a:r>
            <a:endParaRPr sz="2250"/>
          </a:p>
          <a:p>
            <a:pPr indent="-371475" lvl="0" marL="457200" rtl="0" algn="l">
              <a:lnSpc>
                <a:spcPct val="115000"/>
              </a:lnSpc>
              <a:spcBef>
                <a:spcPts val="0"/>
              </a:spcBef>
              <a:spcAft>
                <a:spcPts val="0"/>
              </a:spcAft>
              <a:buSzPts val="2250"/>
              <a:buChar char="●"/>
            </a:pPr>
            <a:r>
              <a:rPr lang="en-GB" sz="2250"/>
              <a:t>Returning kunder dominerar</a:t>
            </a:r>
            <a:endParaRPr sz="2250"/>
          </a:p>
          <a:p>
            <a:pPr indent="0" lvl="0" marL="0" rtl="0" algn="l">
              <a:lnSpc>
                <a:spcPct val="115000"/>
              </a:lnSpc>
              <a:spcBef>
                <a:spcPts val="1400"/>
              </a:spcBef>
              <a:spcAft>
                <a:spcPts val="0"/>
              </a:spcAft>
              <a:buClr>
                <a:schemeClr val="dk1"/>
              </a:buClr>
              <a:buSzPts val="1100"/>
              <a:buNone/>
            </a:pPr>
            <a:r>
              <a:rPr b="1" lang="en-GB" sz="2250"/>
              <a:t> Rekommendationer</a:t>
            </a:r>
            <a:endParaRPr b="1" sz="2250"/>
          </a:p>
          <a:p>
            <a:pPr indent="-371475" lvl="0" marL="457200" rtl="0" algn="l">
              <a:lnSpc>
                <a:spcPct val="115000"/>
              </a:lnSpc>
              <a:spcBef>
                <a:spcPts val="1200"/>
              </a:spcBef>
              <a:spcAft>
                <a:spcPts val="0"/>
              </a:spcAft>
              <a:buSzPts val="2250"/>
              <a:buChar char="●"/>
            </a:pPr>
            <a:r>
              <a:rPr lang="en-GB" sz="2250"/>
              <a:t>Fokusera på nyckelkategorier</a:t>
            </a:r>
            <a:endParaRPr b="1" sz="2250"/>
          </a:p>
          <a:p>
            <a:pPr indent="-371475" lvl="0" marL="457200" rtl="0" algn="l">
              <a:lnSpc>
                <a:spcPct val="115000"/>
              </a:lnSpc>
              <a:spcBef>
                <a:spcPts val="0"/>
              </a:spcBef>
              <a:spcAft>
                <a:spcPts val="0"/>
              </a:spcAft>
              <a:buSzPts val="2250"/>
              <a:buChar char="●"/>
            </a:pPr>
            <a:r>
              <a:rPr lang="en-GB" sz="2250"/>
              <a:t>Förbättra leveranstider</a:t>
            </a:r>
            <a:endParaRPr b="1" sz="2250"/>
          </a:p>
          <a:p>
            <a:pPr indent="-371475" lvl="0" marL="457200" rtl="0" algn="l">
              <a:lnSpc>
                <a:spcPct val="115000"/>
              </a:lnSpc>
              <a:spcBef>
                <a:spcPts val="0"/>
              </a:spcBef>
              <a:spcAft>
                <a:spcPts val="0"/>
              </a:spcAft>
              <a:buSzPts val="2250"/>
              <a:buChar char="●"/>
            </a:pPr>
            <a:r>
              <a:rPr lang="en-GB" sz="2250"/>
              <a:t>Segmentera kundstrategi</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GB"/>
              <a:t>8. Begränsningar och nästa steg</a:t>
            </a:r>
            <a:endParaRPr/>
          </a:p>
        </p:txBody>
      </p:sp>
      <p:sp>
        <p:nvSpPr>
          <p:cNvPr id="134" name="Google Shape;134;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400"/>
              </a:spcBef>
              <a:spcAft>
                <a:spcPts val="0"/>
              </a:spcAft>
              <a:buClr>
                <a:schemeClr val="dk1"/>
              </a:buClr>
              <a:buSzPts val="1100"/>
              <a:buFont typeface="Arial"/>
              <a:buNone/>
            </a:pPr>
            <a:r>
              <a:rPr b="1" lang="en-GB" sz="2250"/>
              <a:t>Begränsningar</a:t>
            </a:r>
            <a:endParaRPr b="1" sz="2250"/>
          </a:p>
          <a:p>
            <a:pPr indent="-371475" lvl="0" marL="457200" rtl="0" algn="l">
              <a:lnSpc>
                <a:spcPct val="115000"/>
              </a:lnSpc>
              <a:spcBef>
                <a:spcPts val="1200"/>
              </a:spcBef>
              <a:spcAft>
                <a:spcPts val="0"/>
              </a:spcAft>
              <a:buSzPts val="2250"/>
              <a:buChar char="●"/>
            </a:pPr>
            <a:r>
              <a:rPr lang="en-GB" sz="2250"/>
              <a:t>Begränsad dataset</a:t>
            </a:r>
            <a:endParaRPr sz="2250"/>
          </a:p>
          <a:p>
            <a:pPr indent="-371475" lvl="0" marL="457200" rtl="0" algn="l">
              <a:lnSpc>
                <a:spcPct val="115000"/>
              </a:lnSpc>
              <a:spcBef>
                <a:spcPts val="0"/>
              </a:spcBef>
              <a:spcAft>
                <a:spcPts val="0"/>
              </a:spcAft>
              <a:buSzPts val="2250"/>
              <a:buChar char="●"/>
            </a:pPr>
            <a:r>
              <a:rPr lang="en-GB" sz="2250"/>
              <a:t>Implementation av saknade värden</a:t>
            </a:r>
            <a:endParaRPr sz="2250"/>
          </a:p>
          <a:p>
            <a:pPr indent="-371475" lvl="0" marL="457200" rtl="0" algn="l">
              <a:lnSpc>
                <a:spcPct val="115000"/>
              </a:lnSpc>
              <a:spcBef>
                <a:spcPts val="0"/>
              </a:spcBef>
              <a:spcAft>
                <a:spcPts val="0"/>
              </a:spcAft>
              <a:buSzPts val="2250"/>
              <a:buChar char="●"/>
            </a:pPr>
            <a:r>
              <a:rPr lang="en-GB" sz="2250"/>
              <a:t>Samband betyder inte orsak</a:t>
            </a:r>
            <a:endParaRPr sz="2250"/>
          </a:p>
          <a:p>
            <a:pPr indent="0" lvl="0" marL="0" rtl="0" algn="l">
              <a:lnSpc>
                <a:spcPct val="115000"/>
              </a:lnSpc>
              <a:spcBef>
                <a:spcPts val="1400"/>
              </a:spcBef>
              <a:spcAft>
                <a:spcPts val="0"/>
              </a:spcAft>
              <a:buClr>
                <a:schemeClr val="dk1"/>
              </a:buClr>
              <a:buSzPts val="1100"/>
              <a:buFont typeface="Arial"/>
              <a:buNone/>
            </a:pPr>
            <a:r>
              <a:rPr b="1" lang="en-GB" sz="2250"/>
              <a:t>Nästa steg</a:t>
            </a:r>
            <a:endParaRPr b="1" sz="2250"/>
          </a:p>
          <a:p>
            <a:pPr indent="-371475" lvl="0" marL="457200" rtl="0" algn="l">
              <a:lnSpc>
                <a:spcPct val="115000"/>
              </a:lnSpc>
              <a:spcBef>
                <a:spcPts val="1200"/>
              </a:spcBef>
              <a:spcAft>
                <a:spcPts val="0"/>
              </a:spcAft>
              <a:buSzPts val="2250"/>
              <a:buChar char="●"/>
            </a:pPr>
            <a:r>
              <a:rPr lang="en-GB" sz="2250"/>
              <a:t>Djupare analys per kategori</a:t>
            </a:r>
            <a:endParaRPr sz="2250"/>
          </a:p>
          <a:p>
            <a:pPr indent="-371475" lvl="0" marL="457200" rtl="0" algn="l">
              <a:lnSpc>
                <a:spcPct val="115000"/>
              </a:lnSpc>
              <a:spcBef>
                <a:spcPts val="0"/>
              </a:spcBef>
              <a:spcAft>
                <a:spcPts val="0"/>
              </a:spcAft>
              <a:buSzPts val="2250"/>
              <a:buChar char="●"/>
            </a:pPr>
            <a:r>
              <a:rPr lang="en-GB" sz="2250"/>
              <a:t>Testa om leveranstid är orsak till ökade returer</a:t>
            </a:r>
            <a:endParaRPr sz="2250"/>
          </a:p>
          <a:p>
            <a:pPr indent="-371475" lvl="0" marL="457200" rtl="0" algn="l">
              <a:lnSpc>
                <a:spcPct val="115000"/>
              </a:lnSpc>
              <a:spcBef>
                <a:spcPts val="0"/>
              </a:spcBef>
              <a:spcAft>
                <a:spcPts val="0"/>
              </a:spcAft>
              <a:buSzPts val="2250"/>
              <a:buChar char="●"/>
            </a:pPr>
            <a:r>
              <a:rPr lang="en-GB" sz="2250"/>
              <a:t>Kundsegmentering &amp; Targeting</a:t>
            </a:r>
            <a:endParaRPr sz="2250"/>
          </a:p>
          <a:p>
            <a:pPr indent="-371475" lvl="0" marL="457200" rtl="0" algn="l">
              <a:lnSpc>
                <a:spcPct val="115000"/>
              </a:lnSpc>
              <a:spcBef>
                <a:spcPts val="0"/>
              </a:spcBef>
              <a:spcAft>
                <a:spcPts val="0"/>
              </a:spcAft>
              <a:buSzPts val="2250"/>
              <a:buChar char="●"/>
            </a:pPr>
            <a:r>
              <a:rPr lang="en-GB" sz="2250"/>
              <a:t>Möjligöra implementation av prediktiva modeller</a:t>
            </a:r>
            <a:endParaRPr sz="225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3d7f9d0349a_0_619"/>
          <p:cNvSpPr txBox="1"/>
          <p:nvPr>
            <p:ph type="title"/>
          </p:nvPr>
        </p:nvSpPr>
        <p:spPr>
          <a:xfrm>
            <a:off x="653667" y="701800"/>
            <a:ext cx="7578300" cy="5454300"/>
          </a:xfrm>
          <a:prstGeom prst="rect">
            <a:avLst/>
          </a:prstGeom>
        </p:spPr>
        <p:txBody>
          <a:bodyPr anchorCtr="0" anchor="ctr" bIns="121900" lIns="121900" spcFirstLastPara="1" rIns="121900" wrap="square" tIns="121900">
            <a:normAutofit/>
          </a:bodyPr>
          <a:lstStyle/>
          <a:p>
            <a:pPr indent="0" lvl="0" marL="0" rtl="0" algn="l">
              <a:spcBef>
                <a:spcPts val="0"/>
              </a:spcBef>
              <a:spcAft>
                <a:spcPts val="0"/>
              </a:spcAft>
              <a:buNone/>
            </a:pPr>
            <a:r>
              <a:rPr lang="en-GB"/>
              <a:t>Frågor?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2026-04-02T07:30:54Z</dcterms:created>
  <dc:creator>Linnéa Moreira Emanuelsson</dc:creator>
</cp:coreProperties>
</file>